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0b545b5d2749dd" /><Relationship Type="http://schemas.openxmlformats.org/officeDocument/2006/relationships/extended-properties" Target="/docProps/app.xml" Id="R7dde4098717d49d5" /><Relationship Type="http://schemas.openxmlformats.org/officeDocument/2006/relationships/officeDocument" Target="/ppt/presentation.xml" Id="R1fc2d23f277b4ac9" /></Relationships>
</file>

<file path=ppt/presentation.xml><?xml version="1.0" encoding="utf-8"?>
<p:presentation xmlns:p="http://schemas.openxmlformats.org/presentationml/2006/main">
  <p:sldMasterIdLst>
    <p:sldMasterId xmlns:r="http://schemas.openxmlformats.org/officeDocument/2006/relationships" id="2147483648" r:id="R75a5908825c343f7"/>
  </p:sldMasterIdLst>
  <p:notesMasterIdLst>
    <p:notesMasterId xmlns:r="http://schemas.openxmlformats.org/officeDocument/2006/relationships" r:id="Rbff6485ac41d4dbe"/>
  </p:notesMasterIdLst>
  <p:sldIdLst>
    <p:sldId xmlns:r="http://schemas.openxmlformats.org/officeDocument/2006/relationships" id="256" r:id="Rc150b1b7abfc45cb"/>
    <p:sldId xmlns:r="http://schemas.openxmlformats.org/officeDocument/2006/relationships" id="257" r:id="R66a9e1ee0d4e45ee"/>
    <p:sldId xmlns:r="http://schemas.openxmlformats.org/officeDocument/2006/relationships" id="258" r:id="R45d84a3821a94c32"/>
    <p:sldId xmlns:r="http://schemas.openxmlformats.org/officeDocument/2006/relationships" id="259" r:id="R296fbee18e924454"/>
    <p:sldId xmlns:r="http://schemas.openxmlformats.org/officeDocument/2006/relationships" id="260" r:id="R21159f4e5de44303"/>
    <p:sldId xmlns:r="http://schemas.openxmlformats.org/officeDocument/2006/relationships" id="261" r:id="R42cdc02c6d804b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3f657cdfe040c4" /><Relationship Type="http://schemas.openxmlformats.org/officeDocument/2006/relationships/slideMaster" Target="/ppt/slideMasters/slideMaster1.xml" Id="R75a5908825c343f7" /><Relationship Type="http://schemas.openxmlformats.org/officeDocument/2006/relationships/notesMaster" Target="/ppt/notesMasters/notesMaster1.xml" Id="Rbff6485ac41d4dbe" /><Relationship Type="http://schemas.openxmlformats.org/officeDocument/2006/relationships/presProps" Target="/ppt/presProps.xml" Id="R92101ffba95d49a6" /><Relationship Type="http://schemas.openxmlformats.org/officeDocument/2006/relationships/tableStyles" Target="/ppt/tableStyles.xml" Id="Re93455877a12486d" /><Relationship Type="http://schemas.openxmlformats.org/officeDocument/2006/relationships/slide" Target="/ppt/slides/slide1.xml" Id="Rc150b1b7abfc45cb" /><Relationship Type="http://schemas.openxmlformats.org/officeDocument/2006/relationships/slide" Target="/ppt/slides/slide2.xml" Id="R66a9e1ee0d4e45ee" /><Relationship Type="http://schemas.openxmlformats.org/officeDocument/2006/relationships/slide" Target="/ppt/slides/slide3.xml" Id="R45d84a3821a94c32" /><Relationship Type="http://schemas.openxmlformats.org/officeDocument/2006/relationships/slide" Target="/ppt/slides/slide4.xml" Id="R296fbee18e924454" /><Relationship Type="http://schemas.openxmlformats.org/officeDocument/2006/relationships/slide" Target="/ppt/slides/slide5.xml" Id="R21159f4e5de44303" /><Relationship Type="http://schemas.openxmlformats.org/officeDocument/2006/relationships/slide" Target="/ppt/slides/slide6.xml" Id="R42cdc02c6d804b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c4e714e65945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2e0542628c4a94" /><Relationship Type="http://schemas.openxmlformats.org/officeDocument/2006/relationships/notesMaster" Target="/ppt/notesMasters/notesMaster1.xml" Id="Re9cc165889ae44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b2ea74a5be429b" /><Relationship Type="http://schemas.openxmlformats.org/officeDocument/2006/relationships/notesMaster" Target="/ppt/notesMasters/notesMaster1.xml" Id="R881937febc9e42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23e9b7a50f4361" /><Relationship Type="http://schemas.openxmlformats.org/officeDocument/2006/relationships/notesMaster" Target="/ppt/notesMasters/notesMaster1.xml" Id="Rcb592d44d90849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c022015a6a434f" /><Relationship Type="http://schemas.openxmlformats.org/officeDocument/2006/relationships/notesMaster" Target="/ppt/notesMasters/notesMaster1.xml" Id="R87e1b1f6e3634b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6d56c8e8a44443" /><Relationship Type="http://schemas.openxmlformats.org/officeDocument/2006/relationships/notesMaster" Target="/ppt/notesMasters/notesMaster1.xml" Id="R2cb55daaac784d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ef027e78304d2d" /><Relationship Type="http://schemas.openxmlformats.org/officeDocument/2006/relationships/notesMaster" Target="/ppt/notesMasters/notesMaster1.xml" Id="R5a0ca10f9ac74c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0:00-0:30</a:t>
            </a:r>
          </a:p>
          <a:p xmlns:a="http://schemas.openxmlformats.org/drawingml/2006/main">
            <a:r>
              <a:t>Rubric: User value: 25 points</a:t>
            </a:r>
          </a:p>
          <a:p xmlns:a="http://schemas.openxmlformats.org/drawingml/2006/main">
            <a:r>
              <a:t/>
            </a:r>
          </a:p>
          <a:p xmlns:a="http://schemas.openxmlformats.org/drawingml/2006/main">
            <a:r>
              <a:t>SPOKEN SCRIPT</a:t>
            </a:r>
          </a:p>
          <a:p xmlns:a="http://schemas.openxmlformats.org/drawingml/2006/main">
            <a:r>
              <a:t>Clarity is for support and customer-experience leads at digital-service companies. When the same problem appears across recordings, they need to connect the evidence and agree what deserves investigation. Clarity brings related calls, a proposed next step and a recorded human decision into one workflow. That is the value we are testing. We have not yet validated customer demand or measured time savings.</a:t>
            </a:r>
          </a:p>
          <a:p xmlns:a="http://schemas.openxmlformats.org/drawingml/2006/main">
            <a:r>
              <a:t/>
            </a:r>
          </a:p>
          <a:p xmlns:a="http://schemas.openxmlformats.org/drawingml/2006/main">
            <a:r>
              <a:t>PRESENTER NOTES</a:t>
            </a:r>
          </a:p>
          <a:p xmlns:a="http://schemas.openxmlformats.org/drawingml/2006/main">
            <a:r>
              <a:t>The initial target user is a support or CX lead who needs an engineering owner for recurring reported problems. Customer interviews, demand and measured savings remain pending. Use the pilot sheets to validate this hypothesis.</a:t>
            </a:r>
          </a:p>
          <a:p xmlns:a="http://schemas.openxmlformats.org/drawingml/2006/main">
            <a:r>
              <a:t/>
            </a:r>
          </a:p>
          <a:p xmlns:a="http://schemas.openxmlformats.org/drawingml/2006/main">
            <a:r>
              <a:t>SOURCES</a:t>
            </a:r>
          </a:p>
          <a:p xmlns:a="http://schemas.openxmlformats.org/drawingml/2006/main">
            <a:r>
              <a:t>docs/JUDGE_EVALUATION.md</a:t>
            </a:r>
          </a:p>
          <a:p xmlns:a="http://schemas.openxmlformats.org/drawingml/2006/main">
            <a:r>
              <a:t>docs/EVIDENCE_PLAN.md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0:30-1:00</a:t>
            </a:r>
          </a:p>
          <a:p xmlns:a="http://schemas.openxmlformats.org/drawingml/2006/main">
            <a:r>
              <a:t>Rubric: Working prototype and meaningful AI contribution: 30 points</a:t>
            </a:r>
          </a:p>
          <a:p xmlns:a="http://schemas.openxmlformats.org/drawingml/2006/main">
            <a:r>
              <a:t/>
            </a:r>
          </a:p>
          <a:p xmlns:a="http://schemas.openxmlformats.org/drawingml/2006/main">
            <a:r>
              <a:t>SPOKEN SCRIPT</a:t>
            </a:r>
          </a:p>
          <a:p xmlns:a="http://schemas.openxmlformats.org/drawingml/2006/main">
            <a:r>
              <a:t>Once a recording source is connected, ingestion and analysis run automatically. Speech models transcribe; patterns and a local model mask sensitive text; language models propose findings and actions; embeddings help group related issues. Code validates references and calculates counts. People decide what to approve. Company rules and compatible analysis providers are configurable, while the review requirement remains. This is an implemented workflow, with compatibility boundaries.</a:t>
            </a:r>
          </a:p>
          <a:p xmlns:a="http://schemas.openxmlformats.org/drawingml/2006/main">
            <a:r>
              <a:t/>
            </a:r>
          </a:p>
          <a:p xmlns:a="http://schemas.openxmlformats.org/drawingml/2006/main">
            <a:r>
              <a:t>PRESENTER NOTES</a:t>
            </a:r>
          </a:p>
          <a:p xmlns:a="http://schemas.openxmlformats.org/drawingml/2006/main">
            <a:r>
              <a:t>Automatic ingestion is an upload API plus a watched-folder connector, not a native connector for every call platform. External analysis needs a configured compatible endpoint and workspace opt-in. Speech, masking and embeddings remain local. Skill export contains prompts, schemas, workflow and read-only API contracts; it does not deploy an autonomous agent. Source wiring and operational intervention after failures can still be necessary.</a:t>
            </a:r>
          </a:p>
          <a:p xmlns:a="http://schemas.openxmlformats.org/drawingml/2006/main">
            <a:r>
              <a:t/>
            </a:r>
          </a:p>
          <a:p xmlns:a="http://schemas.openxmlformats.org/drawingml/2006/main">
            <a:r>
              <a:t>SOURCES</a:t>
            </a:r>
          </a:p>
          <a:p xmlns:a="http://schemas.openxmlformats.org/drawingml/2006/main">
            <a:r>
              <a:t>docs/AUTOMATION_AI.md</a:t>
            </a:r>
          </a:p>
          <a:p xmlns:a="http://schemas.openxmlformats.org/drawingml/2006/main">
            <a:r>
              <a:t>worker/csi_worker/analysis.py</a:t>
            </a:r>
          </a:p>
          <a:p xmlns:a="http://schemas.openxmlformats.org/drawingml/2006/main">
            <a:r>
              <a:t>worker/csi_worker/agent_profile.py</a:t>
            </a:r>
          </a:p>
          <a:p xmlns:a="http://schemas.openxmlformats.org/drawingml/2006/main">
            <a:r>
              <a:t>worker/csi_worker/activities.py</a:t>
            </a:r>
          </a:p>
          <a:p xmlns:a="http://schemas.openxmlformats.org/drawingml/2006/main">
            <a:r>
              <a:t>server/src/main/java/az/csi/DecisionController.java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1:00-1:30</a:t>
            </a:r>
          </a:p>
          <a:p xmlns:a="http://schemas.openxmlformats.org/drawingml/2006/main">
            <a:r>
              <a:t>Rubric: Working prototype and meaningful AI contribution: 30 points</a:t>
            </a:r>
          </a:p>
          <a:p xmlns:a="http://schemas.openxmlformats.org/drawingml/2006/main">
            <a:r>
              <a:t/>
            </a:r>
          </a:p>
          <a:p xmlns:a="http://schemas.openxmlformats.org/drawingml/2006/main">
            <a:r>
              <a:t>SPOKEN SCRIPT</a:t>
            </a:r>
          </a:p>
          <a:p xmlns:a="http://schemas.openxmlformats.org/drawingml/2006/main">
            <a:r>
              <a:t>Here is the prepared payment example: two calls from one fictional customer describe checkout failures. The recommendation is to inspect transaction logs and verify whether a charge occurred. The reviewer can return to the cited conversation before accepting that investigation. We do not claim the model found the root cause. These are synthetic recordings with stored model outputs, editorial titles and documented masking corrections. Seeded decisions are illustrative.</a:t>
            </a:r>
          </a:p>
          <a:p xmlns:a="http://schemas.openxmlformats.org/drawingml/2006/main">
            <a:r>
              <a:t/>
            </a:r>
          </a:p>
          <a:p xmlns:a="http://schemas.openxmlformats.org/drawingml/2006/main">
            <a:r>
              <a:t>PRESENTER NOTES</a:t>
            </a:r>
          </a:p>
          <a:p xmlns:a="http://schemas.openxmlformats.org/drawingml/2006/main">
            <a:r>
              <a:t>Use the existing issue screenshot as a prepared prototype capture, not a new run. Catalog payment issue ddab40f9-e736-4fdf-bbf5-af0759145421 has two linked calls sharing demo-customer-01. Prepared call outputs record call-analysis-v2; current worker uses call-analysis-v6-reviewed. Demo state remaps IDs and dates. Proposed outcome text is an aspiration, not observed impact. Start a separate fresh job during the main demo; this screenshot remains prepared evidence.</a:t>
            </a:r>
          </a:p>
          <a:p xmlns:a="http://schemas.openxmlformats.org/drawingml/2006/main">
            <a:r>
              <a:t/>
            </a:r>
          </a:p>
          <a:p xmlns:a="http://schemas.openxmlformats.org/drawingml/2006/main">
            <a:r>
              <a:t>SOURCES</a:t>
            </a:r>
          </a:p>
          <a:p xmlns:a="http://schemas.openxmlformats.org/drawingml/2006/main">
            <a:r>
              <a:t>server/src/main/resources/demo/catalog.json</a:t>
            </a:r>
          </a:p>
          <a:p xmlns:a="http://schemas.openxmlformats.org/drawingml/2006/main">
            <a:r>
              <a:t>demo/labels.json</a:t>
            </a:r>
          </a:p>
          <a:p xmlns:a="http://schemas.openxmlformats.org/drawingml/2006/main">
            <a:r>
              <a:t>demo/corrections.json</a:t>
            </a:r>
          </a:p>
          <a:p xmlns:a="http://schemas.openxmlformats.org/drawingml/2006/main">
            <a:r>
              <a:t>server/src/main/java/az/csi/DemoCatalog.java</a:t>
            </a:r>
          </a:p>
          <a:p xmlns:a="http://schemas.openxmlformats.org/drawingml/2006/main">
            <a:r>
              <a:t>docs/DEMO_SCRIPT.md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1:30-2:00</a:t>
            </a:r>
          </a:p>
          <a:p xmlns:a="http://schemas.openxmlformats.org/drawingml/2006/main">
            <a:r>
              <a:t>Rubric: Quality testing, failures and comparison with the current approach: 20 points</a:t>
            </a:r>
          </a:p>
          <a:p xmlns:a="http://schemas.openxmlformats.org/drawingml/2006/main">
            <a:r>
              <a:t/>
            </a:r>
          </a:p>
          <a:p xmlns:a="http://schemas.openxmlformats.org/drawingml/2006/main">
            <a:r>
              <a:t>SPOKEN SCRIPT</a:t>
            </a:r>
          </a:p>
          <a:p xmlns:a="http://schemas.openxmlformats.org/drawingml/2006/main">
            <a:r>
              <a:t>On eight new synthetic transcripts, AI matched all seven labeled issues with eight findings. A fixed keyword baseline matched three issues with three findings. That is better recall in this small test, with an extra paraphrased issue. Three AI findings triggered narrow rubric flags, including two action-wording checks. These are lexical measures, not human-confirmed accuracy. We retain the failures and have prepared an independent reviewer comparison.</a:t>
            </a:r>
          </a:p>
          <a:p xmlns:a="http://schemas.openxmlformats.org/drawingml/2006/main">
            <a:r>
              <a:t/>
            </a:r>
          </a:p>
          <a:p xmlns:a="http://schemas.openxmlformats.org/drawingml/2006/main">
            <a:r>
              <a:t>PRESENTER NOTES</a:t>
            </a:r>
          </a:p>
          <a:p xmlns:a="http://schemas.openxmlformats.org/drawingml/2006/main">
            <a:r>
              <a:t>Source and baseline were frozen before this new set was authored. Same-agent synthetic labels are not independent ground truth. No tuning followed inspection of outputs. One extra paraphrased issue and two action-pattern mismatches account for 3/8 flags. This is not a hallucination rate. Version 5 used a different set, so do not claim a controlled accuracy gain. The keyword baseline has no masking or ASR and is deliberately simple. See SUBMISSION_EVIDENCE.md for current software checks.</a:t>
            </a:r>
          </a:p>
          <a:p xmlns:a="http://schemas.openxmlformats.org/drawingml/2006/main">
            <a:r>
              <a:t/>
            </a:r>
          </a:p>
          <a:p xmlns:a="http://schemas.openxmlformats.org/drawingml/2006/main">
            <a:r>
              <a:t>SOURCES</a:t>
            </a:r>
          </a:p>
          <a:p xmlns:a="http://schemas.openxmlformats.org/drawingml/2006/main">
            <a:r>
              <a:t>evaluation/RESULTS_V6.md</a:t>
            </a:r>
          </a:p>
          <a:p xmlns:a="http://schemas.openxmlformats.org/drawingml/2006/main">
            <a:r>
              <a:t>evaluation/reports/text-heldout-v6.json</a:t>
            </a:r>
          </a:p>
          <a:p xmlns:a="http://schemas.openxmlformats.org/drawingml/2006/main">
            <a:r>
              <a:t>evaluation/reports/keyword-heldout-v6.json</a:t>
            </a:r>
          </a:p>
          <a:p xmlns:a="http://schemas.openxmlformats.org/drawingml/2006/main">
            <a:r>
              <a:t>docs/SUBMISSION_EVIDENCE.md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2:00-2:30</a:t>
            </a:r>
          </a:p>
          <a:p xmlns:a="http://schemas.openxmlformats.org/drawingml/2006/main">
            <a:r>
              <a:t>Rubric: Feasibility, data requirements, running costs and next steps: 15 points</a:t>
            </a:r>
          </a:p>
          <a:p xmlns:a="http://schemas.openxmlformats.org/drawingml/2006/main">
            <a:r>
              <a:t/>
            </a:r>
          </a:p>
          <a:p xmlns:a="http://schemas.openxmlformats.org/drawingml/2006/main">
            <a:r>
              <a:t>SPOKEN SCRIPT</a:t>
            </a:r>
          </a:p>
          <a:p xmlns:a="http://schemas.openxmlformats.org/drawingml/2006/main">
            <a:r>
              <a:t>We have a concrete candidate budget: three hundred two dollars and forty cents monthly for a server and weekly backups, based on published pricing. That excludes taxes, review labor and extras. The selected host still needs benchmarking; laptop throughput cannot establish its cost per call. Our next step is a small reviewer pilot, followed by permissioned recordings. The outcome comparison remains observational, not proof of business impact.</a:t>
            </a:r>
          </a:p>
          <a:p xmlns:a="http://schemas.openxmlformats.org/drawingml/2006/main">
            <a:r>
              <a:t/>
            </a:r>
          </a:p>
          <a:p xmlns:a="http://schemas.openxmlformats.org/drawingml/2006/main">
            <a:r>
              <a:t>PRESENTER NOTES</a:t>
            </a:r>
          </a:p>
          <a:p xmlns:a="http://schemas.openxmlformats.org/drawingml/2006/main">
            <a:r>
              <a:t>DigitalOcean General Purpose Regular: 8 dedicated vCPUs, 32 GiB RAM, 100 GiB SSD, published $252/month, weekly backup 20% or $50.40. Price checked 9 October 2026. No server purchased or workload tested there. Storage included in plan is not double-counted. Added storage, tax, operations, review labor and optional external inference excluded. Never assign local M4 throughput to this host.</a:t>
            </a:r>
          </a:p>
          <a:p xmlns:a="http://schemas.openxmlformats.org/drawingml/2006/main">
            <a:r>
              <a:t/>
            </a:r>
          </a:p>
          <a:p xmlns:a="http://schemas.openxmlformats.org/drawingml/2006/main">
            <a:r>
              <a:t>SOURCES</a:t>
            </a:r>
          </a:p>
          <a:p xmlns:a="http://schemas.openxmlformats.org/drawingml/2006/main">
            <a:r>
              <a:t>evaluation/COSTS.md</a:t>
            </a:r>
          </a:p>
          <a:p xmlns:a="http://schemas.openxmlformats.org/drawingml/2006/main">
            <a:r>
              <a:t>https://www.digitalocean.com/pricing/droplets</a:t>
            </a:r>
          </a:p>
          <a:p xmlns:a="http://schemas.openxmlformats.org/drawingml/2006/main">
            <a:r>
              <a:t>evaluation/pilot/README.md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2:30-3:00</a:t>
            </a:r>
          </a:p>
          <a:p xmlns:a="http://schemas.openxmlformats.org/drawingml/2006/main">
            <a:r>
              <a:t>Rubric: Originality: 10 points</a:t>
            </a:r>
          </a:p>
          <a:p xmlns:a="http://schemas.openxmlformats.org/drawingml/2006/main">
            <a:r>
              <a:t/>
            </a:r>
          </a:p>
          <a:p xmlns:a="http://schemas.openxmlformats.org/drawingml/2006/main">
            <a:r>
              <a:t>SPOKEN SCRIPT</a:t>
            </a:r>
          </a:p>
          <a:p xmlns:a="http://schemas.openxmlformats.org/drawingml/2006/main">
            <a:r>
              <a:t>Feedback intelligence is an established category. Enterpret advertises themes, source citations and issue-tracker workflows. Dovetail offers feedback synthesis and customer intelligence. Our proposed fit is a support team that wants local processing and a traceable, human-owned engineering investigation. We still need evidence that this team prefers Clarity. The pilot tests that preference alongside correctness, review effort and operating cost.</a:t>
            </a:r>
          </a:p>
          <a:p xmlns:a="http://schemas.openxmlformats.org/drawingml/2006/main">
            <a:r>
              <a:t/>
            </a:r>
          </a:p>
          <a:p xmlns:a="http://schemas.openxmlformats.org/drawingml/2006/main">
            <a:r>
              <a:t>PRESENTER NOTES</a:t>
            </a:r>
          </a:p>
          <a:p xmlns:a="http://schemas.openxmlformats.org/drawingml/2006/main">
            <a:r>
              <a:t>Primary-source research reviewed 9 October 2026. Vendor feature descriptions establish overlap, not independently verified quality. Do not imply competitors lack human review, evidence links, customization or outcome tracking. No comparative procurement, price or usability test has been performed. Current custom work is ingestion, versioned prompts/skill contracts, validation, issue grouping and decision lifecycle, not a new foundation model.</a:t>
            </a:r>
          </a:p>
          <a:p xmlns:a="http://schemas.openxmlformats.org/drawingml/2006/main">
            <a:r>
              <a:t/>
            </a:r>
          </a:p>
          <a:p xmlns:a="http://schemas.openxmlformats.org/drawingml/2006/main">
            <a:r>
              <a:t>SOURCES</a:t>
            </a:r>
          </a:p>
          <a:p xmlns:a="http://schemas.openxmlformats.org/drawingml/2006/main">
            <a:r>
              <a:t>docs/JUDGE_QA.md</a:t>
            </a:r>
          </a:p>
          <a:p xmlns:a="http://schemas.openxmlformats.org/drawingml/2006/main">
            <a:r>
              <a:t>https://helpcenter.enterpret.com/en/articles/12665465-enterpret-features-explained</a:t>
            </a:r>
          </a:p>
          <a:p xmlns:a="http://schemas.openxmlformats.org/drawingml/2006/main">
            <a:r>
              <a:t>https://dovetail.com/enterprise/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2affaf41794b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95c22c65b84e6a" /><Relationship Type="http://schemas.openxmlformats.org/officeDocument/2006/relationships/slideLayout" Target="/ppt/slideLayouts/slideLayout1.xml" Id="Rc06137a31e854a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6137a31e854a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9d5bb3c99844702" /><Relationship Type="http://schemas.openxmlformats.org/officeDocument/2006/relationships/notesSlide" Target="/ppt/notesSlides/notesSlide1.xml" Id="Rcd0fcd1b24ac4c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7dff9926e224e9a" /><Relationship Type="http://schemas.openxmlformats.org/officeDocument/2006/relationships/notesSlide" Target="/ppt/notesSlides/notesSlide2.xml" Id="Rb788de8cf0af46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6ec931c5c9461c" /><Relationship Type="http://schemas.openxmlformats.org/officeDocument/2006/relationships/image" Target="/ppt/media/image.jpeg" Id="R6060ed54585540b4" /><Relationship Type="http://schemas.openxmlformats.org/officeDocument/2006/relationships/notesSlide" Target="/ppt/notesSlides/notesSlide3.xml" Id="Rd551e7db6a2e4a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13da29c3bf4d3d" /><Relationship Type="http://schemas.openxmlformats.org/officeDocument/2006/relationships/notesSlide" Target="/ppt/notesSlides/notesSlide4.xml" Id="R453a1ababb244e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c5cea9f76b04baa" /><Relationship Type="http://schemas.openxmlformats.org/officeDocument/2006/relationships/notesSlide" Target="/ppt/notesSlides/notesSlide5.xml" Id="R348b8c75ce6a48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4594de4d54744ab" /><Relationship Type="http://schemas.openxmlformats.org/officeDocument/2006/relationships/notesSlide" Target="/ppt/notesSlides/notesSlide6.xml" Id="R106e50ca4b234012" /></Relationships>
</file>

<file path=ppt/slides/slide1.xml><?xml version="1.0" encoding="utf-8"?>
<p:sld xmlns:p="http://schemas.openxmlformats.org/presentationml/2006/main">
  <p:cSld>
    <p:bg>
      <p:bgPr>
        <a:solidFill xmlns:a="http://schemas.openxmlformats.org/drawingml/2006/main">
          <a:srgbClr val="0B2922"/>
        </a:solidFill>
      </p:bgPr>
    </p:bg>
    <p:spTree>
      <p:nvGrpSpPr>
        <p:cNvPr id="1" name=""/>
        <p:cNvGrpSpPr/>
        <p:nvPr/>
      </p:nvGrpSpPr>
      <p:grpSpPr>
        <a:xfrm xmlns:a="http://schemas.openxmlformats.org/drawingml/2006/main"/>
      </p:grpSpPr>
      <p:sp>
        <p:nvSpPr>
          <p:cNvPr id="9" name="USER VALUE: 25 POINTS">
            <a:extLst xmlns:a="http://schemas.openxmlformats.org/drawingml/2006/main">
              <a:ext uri="{FF2B5EF4-FFF2-40B4-BE49-F238E27FC236}">
                <a16:creationId xmlns:a16="http://schemas.microsoft.com/office/drawing/2014/main" id="{7C0CD7EF-50CA-412D-B7D5-303F284B788D}"/>
              </a:ext>
            </a:extLst>
          </p:cNvPr>
          <p:cNvSpPr>
            <a:spLocks xmlns:a="http://schemas.openxmlformats.org/drawingml/2006/main" noGrp="1"/>
          </p:cNvSpPr>
          <p:nvPr/>
        </p:nvSpPr>
        <p:spPr>
          <a:xfrm xmlns:a="http://schemas.openxmlformats.org/drawingml/2006/main">
            <a:off x="609600" y="40957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BCE0B8"/>
                </a:solidFill>
                <a:latin typeface="Arial"/>
                <a:ea typeface="Arial"/>
                <a:cs typeface="Arial"/>
              </a:defRPr>
            </a:pPr>
            <a:r>
              <a:rPr sz="1125" b="1">
                <a:solidFill>
                  <a:srgbClr val="BCE0B8"/>
                </a:solidFill>
                <a:latin typeface="Arial"/>
                <a:ea typeface="Arial"/>
                <a:cs typeface="Arial"/>
              </a:rPr>
              <a:t>USER VALUE: 25 POINTS</a:t>
            </a:r>
          </a:p>
        </p:txBody>
      </p:sp>
      <p:sp>
        <p:nvSpPr>
          <p:cNvPr id="2" name="Clarity: from recurring complaints&#10;to a reviewed n">
            <a:extLst xmlns:a="http://schemas.openxmlformats.org/drawingml/2006/main">
              <a:ext uri="{FF2B5EF4-FFF2-40B4-BE49-F238E27FC236}">
                <a16:creationId xmlns:a16="http://schemas.microsoft.com/office/drawing/2014/main" id="{350B5AFD-A188-4C1C-9DA7-4E1893DCF77D}"/>
              </a:ext>
            </a:extLst>
          </p:cNvPr>
          <p:cNvSpPr>
            <a:spLocks xmlns:a="http://schemas.openxmlformats.org/drawingml/2006/main" noGrp="1"/>
          </p:cNvSpPr>
          <p:nvPr/>
        </p:nvSpPr>
        <p:spPr>
          <a:xfrm xmlns:a="http://schemas.openxmlformats.org/drawingml/2006/main">
            <a:off x="609600" y="10287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75" b="1">
                <a:solidFill>
                  <a:srgbClr val="F7FAF3"/>
                </a:solidFill>
                <a:latin typeface="Arial"/>
                <a:ea typeface="Arial"/>
                <a:cs typeface="Arial"/>
              </a:defRPr>
            </a:pPr>
            <a:r>
              <a:rPr sz="3975" b="1">
                <a:solidFill>
                  <a:srgbClr val="F7FAF3"/>
                </a:solidFill>
                <a:latin typeface="Arial"/>
                <a:ea typeface="Arial"/>
                <a:cs typeface="Arial"/>
              </a:rPr>
              <a:t>Clarity: from recurring complaints</a:t>
            </a:r>
          </a:p>
          <a:p xmlns:a="http://schemas.openxmlformats.org/drawingml/2006/main">
            <a:pPr>
              <a:defRPr sz="3975" b="1">
                <a:solidFill>
                  <a:srgbClr val="F7FAF3"/>
                </a:solidFill>
                <a:latin typeface="Arial"/>
                <a:ea typeface="Arial"/>
                <a:cs typeface="Arial"/>
              </a:defRPr>
            </a:pPr>
            <a:r>
              <a:rPr sz="3975" b="1">
                <a:solidFill>
                  <a:srgbClr val="F7FAF3"/>
                </a:solidFill>
                <a:latin typeface="Arial"/>
                <a:ea typeface="Arial"/>
                <a:cs typeface="Arial"/>
              </a:rPr>
              <a:t>to a reviewed next step</a:t>
            </a:r>
          </a:p>
        </p:txBody>
      </p:sp>
      <p:sp>
        <p:nvSpPr>
          <p:cNvPr id="3" name="01">
            <a:extLst xmlns:a="http://schemas.openxmlformats.org/drawingml/2006/main">
              <a:ext uri="{FF2B5EF4-FFF2-40B4-BE49-F238E27FC236}">
                <a16:creationId xmlns:a16="http://schemas.microsoft.com/office/drawing/2014/main" id="{6B2CD0F0-AFFB-4202-88B8-E2CF949E5E89}"/>
              </a:ext>
            </a:extLst>
          </p:cNvPr>
          <p:cNvSpPr>
            <a:spLocks xmlns:a="http://schemas.openxmlformats.org/drawingml/2006/main" noGrp="1"/>
          </p:cNvSpPr>
          <p:nvPr/>
        </p:nvSpPr>
        <p:spPr>
          <a:xfrm xmlns:a="http://schemas.openxmlformats.org/drawingml/2006/main">
            <a:off x="11125200" y="63817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BCE0B8"/>
                </a:solidFill>
                <a:latin typeface="Arial"/>
                <a:ea typeface="Arial"/>
                <a:cs typeface="Arial"/>
              </a:defRPr>
            </a:pPr>
            <a:r>
              <a:rPr sz="1125" b="0">
                <a:solidFill>
                  <a:srgbClr val="BCE0B8"/>
                </a:solidFill>
                <a:latin typeface="Arial"/>
                <a:ea typeface="Arial"/>
                <a:cs typeface="Arial"/>
              </a:rPr>
              <a:t>01</a:t>
            </a:r>
          </a:p>
        </p:txBody>
      </p:sp>
      <p:sp>
        <p:nvSpPr>
          <p:cNvPr id="4" name="SUPPORT + CX LEADS">
            <a:extLst xmlns:a="http://schemas.openxmlformats.org/drawingml/2006/main">
              <a:ext uri="{FF2B5EF4-FFF2-40B4-BE49-F238E27FC236}">
                <a16:creationId xmlns:a16="http://schemas.microsoft.com/office/drawing/2014/main" id="{9C4D8D74-BB66-4D13-B977-83AEC7ECA32E}"/>
              </a:ext>
            </a:extLst>
          </p:cNvPr>
          <p:cNvSpPr>
            <a:spLocks xmlns:a="http://schemas.openxmlformats.org/drawingml/2006/main" noGrp="1"/>
          </p:cNvSpPr>
          <p:nvPr/>
        </p:nvSpPr>
        <p:spPr>
          <a:xfrm xmlns:a="http://schemas.openxmlformats.org/drawingml/2006/main">
            <a:off x="609600" y="2676525"/>
            <a:ext cx="600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BCE0B8"/>
                </a:solidFill>
                <a:latin typeface="Arial"/>
                <a:ea typeface="Arial"/>
                <a:cs typeface="Arial"/>
              </a:defRPr>
            </a:pPr>
            <a:r>
              <a:rPr sz="1350" b="1">
                <a:solidFill>
                  <a:srgbClr val="BCE0B8"/>
                </a:solidFill>
                <a:latin typeface="Arial"/>
                <a:ea typeface="Arial"/>
                <a:cs typeface="Arial"/>
              </a:rPr>
              <a:t>SUPPORT + CX LEADS</a:t>
            </a:r>
          </a:p>
        </p:txBody>
      </p:sp>
      <p:sp>
        <p:nvSpPr>
          <p:cNvPr id="5" name="Digital-service companies&#10;with engineering owners">
            <a:extLst xmlns:a="http://schemas.openxmlformats.org/drawingml/2006/main">
              <a:ext uri="{FF2B5EF4-FFF2-40B4-BE49-F238E27FC236}">
                <a16:creationId xmlns:a16="http://schemas.microsoft.com/office/drawing/2014/main" id="{E168903F-6D9B-42A4-844D-CE5AF12F68DC}"/>
              </a:ext>
            </a:extLst>
          </p:cNvPr>
          <p:cNvSpPr>
            <a:spLocks xmlns:a="http://schemas.openxmlformats.org/drawingml/2006/main" noGrp="1"/>
          </p:cNvSpPr>
          <p:nvPr/>
        </p:nvSpPr>
        <p:spPr>
          <a:xfrm xmlns:a="http://schemas.openxmlformats.org/drawingml/2006/main">
            <a:off x="609600" y="3171825"/>
            <a:ext cx="60293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F7FAF3"/>
                </a:solidFill>
                <a:latin typeface="Arial"/>
                <a:ea typeface="Arial"/>
                <a:cs typeface="Arial"/>
              </a:defRPr>
            </a:pPr>
            <a:r>
              <a:rPr sz="3000" b="1">
                <a:solidFill>
                  <a:srgbClr val="F7FAF3"/>
                </a:solidFill>
                <a:latin typeface="Arial"/>
                <a:ea typeface="Arial"/>
                <a:cs typeface="Arial"/>
              </a:rPr>
              <a:t>Digital-service companies</a:t>
            </a:r>
          </a:p>
          <a:p xmlns:a="http://schemas.openxmlformats.org/drawingml/2006/main">
            <a:pPr>
              <a:defRPr sz="3000" b="1">
                <a:solidFill>
                  <a:srgbClr val="F7FAF3"/>
                </a:solidFill>
                <a:latin typeface="Arial"/>
                <a:ea typeface="Arial"/>
                <a:cs typeface="Arial"/>
              </a:defRPr>
            </a:pPr>
            <a:r>
              <a:rPr sz="3000" b="1">
                <a:solidFill>
                  <a:srgbClr val="F7FAF3"/>
                </a:solidFill>
                <a:latin typeface="Arial"/>
                <a:ea typeface="Arial"/>
                <a:cs typeface="Arial"/>
              </a:rPr>
              <a:t>with engineering owners</a:t>
            </a:r>
          </a:p>
        </p:txBody>
      </p:sp>
      <p:sp>
        <p:nvSpPr>
          <p:cNvPr id="6" name="Connect recordings, recurring complaints&#10;and the n">
            <a:extLst xmlns:a="http://schemas.openxmlformats.org/drawingml/2006/main">
              <a:ext uri="{FF2B5EF4-FFF2-40B4-BE49-F238E27FC236}">
                <a16:creationId xmlns:a16="http://schemas.microsoft.com/office/drawing/2014/main" id="{8DF972ED-36B0-45E9-BD6F-68D3AEEC8B93}"/>
              </a:ext>
            </a:extLst>
          </p:cNvPr>
          <p:cNvSpPr>
            <a:spLocks xmlns:a="http://schemas.openxmlformats.org/drawingml/2006/main" noGrp="1"/>
          </p:cNvSpPr>
          <p:nvPr/>
        </p:nvSpPr>
        <p:spPr>
          <a:xfrm xmlns:a="http://schemas.openxmlformats.org/drawingml/2006/main">
            <a:off x="609600" y="4733925"/>
            <a:ext cx="638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BCE0B8"/>
                </a:solidFill>
                <a:latin typeface="Arial"/>
                <a:ea typeface="Arial"/>
                <a:cs typeface="Arial"/>
              </a:defRPr>
            </a:pPr>
            <a:r>
              <a:rPr sz="2175" b="0">
                <a:solidFill>
                  <a:srgbClr val="BCE0B8"/>
                </a:solidFill>
                <a:latin typeface="Arial"/>
                <a:ea typeface="Arial"/>
                <a:cs typeface="Arial"/>
              </a:rPr>
              <a:t>Connect recordings, recurring complaints</a:t>
            </a:r>
          </a:p>
          <a:p xmlns:a="http://schemas.openxmlformats.org/drawingml/2006/main">
            <a:pPr>
              <a:defRPr sz="2175" b="0">
                <a:solidFill>
                  <a:srgbClr val="BCE0B8"/>
                </a:solidFill>
                <a:latin typeface="Arial"/>
                <a:ea typeface="Arial"/>
                <a:cs typeface="Arial"/>
              </a:defRPr>
            </a:pPr>
            <a:r>
              <a:rPr sz="2175" b="0">
                <a:solidFill>
                  <a:srgbClr val="BCE0B8"/>
                </a:solidFill>
                <a:latin typeface="Arial"/>
                <a:ea typeface="Arial"/>
                <a:cs typeface="Arial"/>
              </a:rPr>
              <a:t>and the next investigation.</a:t>
            </a:r>
          </a:p>
        </p:txBody>
      </p:sp>
      <p:sp>
        <p:nvSpPr>
          <p:cNvPr id="7" name="Who owns&#10;the next&#10;step?">
            <a:extLst xmlns:a="http://schemas.openxmlformats.org/drawingml/2006/main">
              <a:ext uri="{FF2B5EF4-FFF2-40B4-BE49-F238E27FC236}">
                <a16:creationId xmlns:a16="http://schemas.microsoft.com/office/drawing/2014/main" id="{FD2CA869-0AF5-4F55-8B20-6778C03DA4D3}"/>
              </a:ext>
            </a:extLst>
          </p:cNvPr>
          <p:cNvSpPr>
            <a:spLocks xmlns:a="http://schemas.openxmlformats.org/drawingml/2006/main" noGrp="1"/>
          </p:cNvSpPr>
          <p:nvPr/>
        </p:nvSpPr>
        <p:spPr>
          <a:xfrm xmlns:a="http://schemas.openxmlformats.org/drawingml/2006/main">
            <a:off x="8010525" y="2819400"/>
            <a:ext cx="3533775"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1">
                <a:solidFill>
                  <a:srgbClr val="BCE0B8"/>
                </a:solidFill>
                <a:latin typeface="Arial"/>
                <a:ea typeface="Arial"/>
                <a:cs typeface="Arial"/>
              </a:defRPr>
            </a:pPr>
            <a:r>
              <a:rPr sz="4500" b="1">
                <a:solidFill>
                  <a:srgbClr val="BCE0B8"/>
                </a:solidFill>
                <a:latin typeface="Arial"/>
                <a:ea typeface="Arial"/>
                <a:cs typeface="Arial"/>
              </a:rPr>
              <a:t>Who owns</a:t>
            </a:r>
          </a:p>
          <a:p xmlns:a="http://schemas.openxmlformats.org/drawingml/2006/main">
            <a:pPr>
              <a:defRPr sz="4500" b="1">
                <a:solidFill>
                  <a:srgbClr val="BCE0B8"/>
                </a:solidFill>
                <a:latin typeface="Arial"/>
                <a:ea typeface="Arial"/>
                <a:cs typeface="Arial"/>
              </a:defRPr>
            </a:pPr>
            <a:r>
              <a:rPr sz="4500" b="1">
                <a:solidFill>
                  <a:srgbClr val="BCE0B8"/>
                </a:solidFill>
                <a:latin typeface="Arial"/>
                <a:ea typeface="Arial"/>
                <a:cs typeface="Arial"/>
              </a:rPr>
              <a:t>the next</a:t>
            </a:r>
          </a:p>
          <a:p xmlns:a="http://schemas.openxmlformats.org/drawingml/2006/main">
            <a:pPr>
              <a:defRPr sz="4500" b="1">
                <a:solidFill>
                  <a:srgbClr val="BCE0B8"/>
                </a:solidFill>
                <a:latin typeface="Arial"/>
                <a:ea typeface="Arial"/>
                <a:cs typeface="Arial"/>
              </a:defRPr>
            </a:pPr>
            <a:r>
              <a:rPr sz="4500" b="1">
                <a:solidFill>
                  <a:srgbClr val="BCE0B8"/>
                </a:solidFill>
                <a:latin typeface="Arial"/>
                <a:ea typeface="Arial"/>
                <a:cs typeface="Arial"/>
              </a:rPr>
              <a:t>step?</a:t>
            </a:r>
          </a:p>
        </p:txBody>
      </p:sp>
      <p:sp>
        <p:nvSpPr>
          <p:cNvPr id="8" name="Target-user hypothesis. Customer validation and ti">
            <a:extLst xmlns:a="http://schemas.openxmlformats.org/drawingml/2006/main">
              <a:ext uri="{FF2B5EF4-FFF2-40B4-BE49-F238E27FC236}">
                <a16:creationId xmlns:a16="http://schemas.microsoft.com/office/drawing/2014/main" id="{DE318463-09FB-4BC4-BDED-8526F06560E0}"/>
              </a:ext>
            </a:extLst>
          </p:cNvPr>
          <p:cNvSpPr>
            <a:spLocks xmlns:a="http://schemas.openxmlformats.org/drawingml/2006/main" noGrp="1"/>
          </p:cNvSpPr>
          <p:nvPr/>
        </p:nvSpPr>
        <p:spPr>
          <a:xfrm xmlns:a="http://schemas.openxmlformats.org/drawingml/2006/main">
            <a:off x="609600" y="62484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BCE0B8"/>
                </a:solidFill>
                <a:latin typeface="Arial"/>
                <a:ea typeface="Arial"/>
                <a:cs typeface="Arial"/>
              </a:defRPr>
            </a:pPr>
            <a:r>
              <a:rPr sz="1275" b="0">
                <a:solidFill>
                  <a:srgbClr val="BCE0B8"/>
                </a:solidFill>
                <a:latin typeface="Arial"/>
                <a:ea typeface="Arial"/>
                <a:cs typeface="Arial"/>
              </a:rPr>
              <a:t>Target-user hypothesis. Customer validation and time savings remain unmeasured.</a:t>
            </a:r>
          </a:p>
        </p:txBody>
      </p:sp>
    </p:spTree>
    <p:extLst>
      <p:ext uri="{BB962C8B-B14F-4D97-AF65-F5344CB8AC3E}">
        <p14:creationId xmlns:p14="http://schemas.microsoft.com/office/powerpoint/2010/main" val="759207529"/>
      </p:ext>
    </p:extLst>
  </p:cSld>
</p:sld>
</file>

<file path=ppt/slides/slide2.xml><?xml version="1.0" encoding="utf-8"?>
<p:sld xmlns:p="http://schemas.openxmlformats.org/presentationml/2006/main">
  <p:cSld>
    <p:bg>
      <p:bgPr>
        <a:solidFill xmlns:a="http://schemas.openxmlformats.org/drawingml/2006/main">
          <a:srgbClr val="0B2922"/>
        </a:solidFill>
      </p:bgPr>
    </p:bg>
    <p:spTree>
      <p:nvGrpSpPr>
        <p:cNvPr id="1" name=""/>
        <p:cNvGrpSpPr/>
        <p:nvPr/>
      </p:nvGrpSpPr>
      <p:grpSpPr>
        <a:xfrm xmlns:a="http://schemas.openxmlformats.org/drawingml/2006/main"/>
      </p:grpSpPr>
      <p:sp>
        <p:nvSpPr>
          <p:cNvPr id="24" name="WORKING PROTOTYPE AND MEANINGFUL AI CONTRIBUTION: ">
            <a:extLst xmlns:a="http://schemas.openxmlformats.org/drawingml/2006/main">
              <a:ext uri="{FF2B5EF4-FFF2-40B4-BE49-F238E27FC236}">
                <a16:creationId xmlns:a16="http://schemas.microsoft.com/office/drawing/2014/main" id="{C66DF297-C26D-45DA-8F08-C152B03DFB72}"/>
              </a:ext>
            </a:extLst>
          </p:cNvPr>
          <p:cNvSpPr>
            <a:spLocks xmlns:a="http://schemas.openxmlformats.org/drawingml/2006/main" noGrp="1"/>
          </p:cNvSpPr>
          <p:nvPr/>
        </p:nvSpPr>
        <p:spPr>
          <a:xfrm xmlns:a="http://schemas.openxmlformats.org/drawingml/2006/main">
            <a:off x="609600" y="40957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BCE0B8"/>
                </a:solidFill>
                <a:latin typeface="Arial"/>
                <a:ea typeface="Arial"/>
                <a:cs typeface="Arial"/>
              </a:defRPr>
            </a:pPr>
            <a:r>
              <a:rPr sz="1125" b="1">
                <a:solidFill>
                  <a:srgbClr val="BCE0B8"/>
                </a:solidFill>
                <a:latin typeface="Arial"/>
                <a:ea typeface="Arial"/>
                <a:cs typeface="Arial"/>
              </a:rPr>
              <a:t>WORKING PROTOTYPE AND MEANINGFUL AI CONTRIBUTION: 30 POINTS</a:t>
            </a:r>
          </a:p>
        </p:txBody>
      </p:sp>
      <p:sp>
        <p:nvSpPr>
          <p:cNvPr id="2" name="Automatic analysis,&#10;with explicit human decisions">
            <a:extLst xmlns:a="http://schemas.openxmlformats.org/drawingml/2006/main">
              <a:ext uri="{FF2B5EF4-FFF2-40B4-BE49-F238E27FC236}">
                <a16:creationId xmlns:a16="http://schemas.microsoft.com/office/drawing/2014/main" id="{4864CF06-D07B-4C4C-A8CF-27350CFA0439}"/>
              </a:ext>
            </a:extLst>
          </p:cNvPr>
          <p:cNvSpPr>
            <a:spLocks xmlns:a="http://schemas.openxmlformats.org/drawingml/2006/main" noGrp="1"/>
          </p:cNvSpPr>
          <p:nvPr/>
        </p:nvSpPr>
        <p:spPr>
          <a:xfrm xmlns:a="http://schemas.openxmlformats.org/drawingml/2006/main">
            <a:off x="609600" y="10287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75" b="1">
                <a:solidFill>
                  <a:srgbClr val="F7FAF3"/>
                </a:solidFill>
                <a:latin typeface="Arial"/>
                <a:ea typeface="Arial"/>
                <a:cs typeface="Arial"/>
              </a:defRPr>
            </a:pPr>
            <a:r>
              <a:rPr sz="3975" b="1">
                <a:solidFill>
                  <a:srgbClr val="F7FAF3"/>
                </a:solidFill>
                <a:latin typeface="Arial"/>
                <a:ea typeface="Arial"/>
                <a:cs typeface="Arial"/>
              </a:rPr>
              <a:t>Automatic analysis,</a:t>
            </a:r>
          </a:p>
          <a:p xmlns:a="http://schemas.openxmlformats.org/drawingml/2006/main">
            <a:pPr>
              <a:defRPr sz="3975" b="1">
                <a:solidFill>
                  <a:srgbClr val="F7FAF3"/>
                </a:solidFill>
                <a:latin typeface="Arial"/>
                <a:ea typeface="Arial"/>
                <a:cs typeface="Arial"/>
              </a:defRPr>
            </a:pPr>
            <a:r>
              <a:rPr sz="3975" b="1">
                <a:solidFill>
                  <a:srgbClr val="F7FAF3"/>
                </a:solidFill>
                <a:latin typeface="Arial"/>
                <a:ea typeface="Arial"/>
                <a:cs typeface="Arial"/>
              </a:rPr>
              <a:t>with explicit human decisions</a:t>
            </a:r>
          </a:p>
        </p:txBody>
      </p:sp>
      <p:sp>
        <p:nvSpPr>
          <p:cNvPr id="3" name="02">
            <a:extLst xmlns:a="http://schemas.openxmlformats.org/drawingml/2006/main">
              <a:ext uri="{FF2B5EF4-FFF2-40B4-BE49-F238E27FC236}">
                <a16:creationId xmlns:a16="http://schemas.microsoft.com/office/drawing/2014/main" id="{81CBB12F-DD72-4C63-9361-5FF26511CC3A}"/>
              </a:ext>
            </a:extLst>
          </p:cNvPr>
          <p:cNvSpPr>
            <a:spLocks xmlns:a="http://schemas.openxmlformats.org/drawingml/2006/main" noGrp="1"/>
          </p:cNvSpPr>
          <p:nvPr/>
        </p:nvSpPr>
        <p:spPr>
          <a:xfrm xmlns:a="http://schemas.openxmlformats.org/drawingml/2006/main">
            <a:off x="11125200" y="63817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BCE0B8"/>
                </a:solidFill>
                <a:latin typeface="Arial"/>
                <a:ea typeface="Arial"/>
                <a:cs typeface="Arial"/>
              </a:defRPr>
            </a:pPr>
            <a:r>
              <a:rPr sz="1125" b="0">
                <a:solidFill>
                  <a:srgbClr val="BCE0B8"/>
                </a:solidFill>
                <a:latin typeface="Arial"/>
                <a:ea typeface="Arial"/>
                <a:cs typeface="Arial"/>
              </a:rPr>
              <a:t>02</a:t>
            </a:r>
          </a:p>
        </p:txBody>
      </p:sp>
      <p:sp>
        <p:nvSpPr>
          <p:cNvPr id="4" name="01">
            <a:extLst xmlns:a="http://schemas.openxmlformats.org/drawingml/2006/main">
              <a:ext uri="{FF2B5EF4-FFF2-40B4-BE49-F238E27FC236}">
                <a16:creationId xmlns:a16="http://schemas.microsoft.com/office/drawing/2014/main" id="{589E4E5D-109B-44CF-8328-9DF34930D60A}"/>
              </a:ext>
            </a:extLst>
          </p:cNvPr>
          <p:cNvSpPr>
            <a:spLocks xmlns:a="http://schemas.openxmlformats.org/drawingml/2006/main" noGrp="1"/>
          </p:cNvSpPr>
          <p:nvPr/>
        </p:nvSpPr>
        <p:spPr>
          <a:xfrm xmlns:a="http://schemas.openxmlformats.org/drawingml/2006/main">
            <a:off x="609600" y="2543175"/>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0">
                <a:solidFill>
                  <a:srgbClr val="BCE0B8"/>
                </a:solidFill>
                <a:latin typeface="Arial"/>
                <a:ea typeface="Arial"/>
                <a:cs typeface="Arial"/>
              </a:defRPr>
            </a:pPr>
            <a:r>
              <a:rPr sz="3675" b="0">
                <a:solidFill>
                  <a:srgbClr val="BCE0B8"/>
                </a:solidFill>
                <a:latin typeface="Arial"/>
                <a:ea typeface="Arial"/>
                <a:cs typeface="Arial"/>
              </a:rPr>
              <a:t>01</a:t>
            </a:r>
          </a:p>
        </p:txBody>
      </p:sp>
      <p:sp>
        <p:nvSpPr>
          <p:cNvPr id="5" name="Receive">
            <a:extLst xmlns:a="http://schemas.openxmlformats.org/drawingml/2006/main">
              <a:ext uri="{FF2B5EF4-FFF2-40B4-BE49-F238E27FC236}">
                <a16:creationId xmlns:a16="http://schemas.microsoft.com/office/drawing/2014/main" id="{B004CB81-8374-4335-845F-E47066AAB2B0}"/>
              </a:ext>
            </a:extLst>
          </p:cNvPr>
          <p:cNvSpPr>
            <a:spLocks xmlns:a="http://schemas.openxmlformats.org/drawingml/2006/main" noGrp="1"/>
          </p:cNvSpPr>
          <p:nvPr/>
        </p:nvSpPr>
        <p:spPr>
          <a:xfrm xmlns:a="http://schemas.openxmlformats.org/drawingml/2006/main">
            <a:off x="609600" y="3400425"/>
            <a:ext cx="2305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F7FAF3"/>
                </a:solidFill>
                <a:latin typeface="Arial"/>
                <a:ea typeface="Arial"/>
                <a:cs typeface="Arial"/>
              </a:defRPr>
            </a:pPr>
            <a:r>
              <a:rPr sz="2400" b="1">
                <a:solidFill>
                  <a:srgbClr val="F7FAF3"/>
                </a:solidFill>
                <a:latin typeface="Arial"/>
                <a:ea typeface="Arial"/>
                <a:cs typeface="Arial"/>
              </a:rPr>
              <a:t>Receive</a:t>
            </a:r>
          </a:p>
        </p:txBody>
      </p:sp>
      <p:sp>
        <p:nvSpPr>
          <p:cNvPr id="6" name="Connected source&#10;submits audio">
            <a:extLst xmlns:a="http://schemas.openxmlformats.org/drawingml/2006/main">
              <a:ext uri="{FF2B5EF4-FFF2-40B4-BE49-F238E27FC236}">
                <a16:creationId xmlns:a16="http://schemas.microsoft.com/office/drawing/2014/main" id="{E5A616BC-554E-4676-ADF1-6FB3D7FA4FD7}"/>
              </a:ext>
            </a:extLst>
          </p:cNvPr>
          <p:cNvSpPr>
            <a:spLocks xmlns:a="http://schemas.openxmlformats.org/drawingml/2006/main" noGrp="1"/>
          </p:cNvSpPr>
          <p:nvPr/>
        </p:nvSpPr>
        <p:spPr>
          <a:xfrm xmlns:a="http://schemas.openxmlformats.org/drawingml/2006/main">
            <a:off x="609600" y="4095750"/>
            <a:ext cx="2400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BCE0B8"/>
                </a:solidFill>
                <a:latin typeface="Arial"/>
                <a:ea typeface="Arial"/>
                <a:cs typeface="Arial"/>
              </a:defRPr>
            </a:pPr>
            <a:r>
              <a:rPr sz="1950" b="0">
                <a:solidFill>
                  <a:srgbClr val="BCE0B8"/>
                </a:solidFill>
                <a:latin typeface="Arial"/>
                <a:ea typeface="Arial"/>
                <a:cs typeface="Arial"/>
              </a:rPr>
              <a:t>Connected source</a:t>
            </a:r>
          </a:p>
          <a:p xmlns:a="http://schemas.openxmlformats.org/drawingml/2006/main">
            <a:pPr>
              <a:defRPr sz="1950" b="0">
                <a:solidFill>
                  <a:srgbClr val="BCE0B8"/>
                </a:solidFill>
                <a:latin typeface="Arial"/>
                <a:ea typeface="Arial"/>
                <a:cs typeface="Arial"/>
              </a:defRPr>
            </a:pPr>
            <a:r>
              <a:rPr sz="1950" b="0">
                <a:solidFill>
                  <a:srgbClr val="BCE0B8"/>
                </a:solidFill>
                <a:latin typeface="Arial"/>
                <a:ea typeface="Arial"/>
                <a:cs typeface="Arial"/>
              </a:rPr>
              <a:t>submits audio</a:t>
            </a:r>
          </a:p>
        </p:txBody>
      </p:sp>
      <p:sp>
        <p:nvSpPr>
          <p:cNvPr id="7" name="Automatic intake">
            <a:extLst xmlns:a="http://schemas.openxmlformats.org/drawingml/2006/main">
              <a:ext uri="{FF2B5EF4-FFF2-40B4-BE49-F238E27FC236}">
                <a16:creationId xmlns:a16="http://schemas.microsoft.com/office/drawing/2014/main" id="{8852C57C-8E3B-4E6B-9435-49C517C8E3C1}"/>
              </a:ext>
            </a:extLst>
          </p:cNvPr>
          <p:cNvSpPr>
            <a:spLocks xmlns:a="http://schemas.openxmlformats.org/drawingml/2006/main" noGrp="1"/>
          </p:cNvSpPr>
          <p:nvPr/>
        </p:nvSpPr>
        <p:spPr>
          <a:xfrm xmlns:a="http://schemas.openxmlformats.org/drawingml/2006/main">
            <a:off x="609600" y="5381625"/>
            <a:ext cx="2400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F7FAF3"/>
                </a:solidFill>
                <a:latin typeface="Arial"/>
                <a:ea typeface="Arial"/>
                <a:cs typeface="Arial"/>
              </a:defRPr>
            </a:pPr>
            <a:r>
              <a:rPr sz="1800" b="1">
                <a:solidFill>
                  <a:srgbClr val="F7FAF3"/>
                </a:solidFill>
                <a:latin typeface="Arial"/>
                <a:ea typeface="Arial"/>
                <a:cs typeface="Arial"/>
              </a:rPr>
              <a:t>Automatic intake</a:t>
            </a:r>
          </a:p>
        </p:txBody>
      </p:sp>
      <p:sp>
        <p:nvSpPr>
          <p:cNvPr id="8" name="→">
            <a:extLst xmlns:a="http://schemas.openxmlformats.org/drawingml/2006/main">
              <a:ext uri="{FF2B5EF4-FFF2-40B4-BE49-F238E27FC236}">
                <a16:creationId xmlns:a16="http://schemas.microsoft.com/office/drawing/2014/main" id="{662B0098-5D95-4886-A05E-6EE0DE836D17}"/>
              </a:ext>
            </a:extLst>
          </p:cNvPr>
          <p:cNvSpPr>
            <a:spLocks xmlns:a="http://schemas.openxmlformats.org/drawingml/2006/main" noGrp="1"/>
          </p:cNvSpPr>
          <p:nvPr/>
        </p:nvSpPr>
        <p:spPr>
          <a:xfrm xmlns:a="http://schemas.openxmlformats.org/drawingml/2006/main">
            <a:off x="2924175" y="3390900"/>
            <a:ext cx="43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BCE0B8"/>
                </a:solidFill>
                <a:latin typeface="Arial"/>
                <a:ea typeface="Arial"/>
                <a:cs typeface="Arial"/>
              </a:defRPr>
            </a:pPr>
            <a:r>
              <a:rPr sz="2175" b="0">
                <a:solidFill>
                  <a:srgbClr val="BCE0B8"/>
                </a:solidFill>
                <a:latin typeface="Arial"/>
                <a:ea typeface="Arial"/>
                <a:cs typeface="Arial"/>
              </a:rPr>
              <a:t>→</a:t>
            </a:r>
          </a:p>
        </p:txBody>
      </p:sp>
      <p:sp>
        <p:nvSpPr>
          <p:cNvPr id="9" name="02">
            <a:extLst xmlns:a="http://schemas.openxmlformats.org/drawingml/2006/main">
              <a:ext uri="{FF2B5EF4-FFF2-40B4-BE49-F238E27FC236}">
                <a16:creationId xmlns:a16="http://schemas.microsoft.com/office/drawing/2014/main" id="{D2364BAD-1C28-4AB3-AD36-9303BA9353B6}"/>
              </a:ext>
            </a:extLst>
          </p:cNvPr>
          <p:cNvSpPr>
            <a:spLocks xmlns:a="http://schemas.openxmlformats.org/drawingml/2006/main" noGrp="1"/>
          </p:cNvSpPr>
          <p:nvPr/>
        </p:nvSpPr>
        <p:spPr>
          <a:xfrm xmlns:a="http://schemas.openxmlformats.org/drawingml/2006/main">
            <a:off x="3457575" y="2543175"/>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0">
                <a:solidFill>
                  <a:srgbClr val="BCE0B8"/>
                </a:solidFill>
                <a:latin typeface="Arial"/>
                <a:ea typeface="Arial"/>
                <a:cs typeface="Arial"/>
              </a:defRPr>
            </a:pPr>
            <a:r>
              <a:rPr sz="3675" b="0">
                <a:solidFill>
                  <a:srgbClr val="BCE0B8"/>
                </a:solidFill>
                <a:latin typeface="Arial"/>
                <a:ea typeface="Arial"/>
                <a:cs typeface="Arial"/>
              </a:rPr>
              <a:t>02</a:t>
            </a:r>
          </a:p>
        </p:txBody>
      </p:sp>
      <p:sp>
        <p:nvSpPr>
          <p:cNvPr id="10" name="Analyze">
            <a:extLst xmlns:a="http://schemas.openxmlformats.org/drawingml/2006/main">
              <a:ext uri="{FF2B5EF4-FFF2-40B4-BE49-F238E27FC236}">
                <a16:creationId xmlns:a16="http://schemas.microsoft.com/office/drawing/2014/main" id="{6E67C221-A0CA-48E6-B24A-98EACE3FDB1D}"/>
              </a:ext>
            </a:extLst>
          </p:cNvPr>
          <p:cNvSpPr>
            <a:spLocks xmlns:a="http://schemas.openxmlformats.org/drawingml/2006/main" noGrp="1"/>
          </p:cNvSpPr>
          <p:nvPr/>
        </p:nvSpPr>
        <p:spPr>
          <a:xfrm xmlns:a="http://schemas.openxmlformats.org/drawingml/2006/main">
            <a:off x="3457575" y="3400425"/>
            <a:ext cx="2305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F7FAF3"/>
                </a:solidFill>
                <a:latin typeface="Arial"/>
                <a:ea typeface="Arial"/>
                <a:cs typeface="Arial"/>
              </a:defRPr>
            </a:pPr>
            <a:r>
              <a:rPr sz="2400" b="1">
                <a:solidFill>
                  <a:srgbClr val="F7FAF3"/>
                </a:solidFill>
                <a:latin typeface="Arial"/>
                <a:ea typeface="Arial"/>
                <a:cs typeface="Arial"/>
              </a:rPr>
              <a:t>Analyze</a:t>
            </a:r>
          </a:p>
        </p:txBody>
      </p:sp>
      <p:sp>
        <p:nvSpPr>
          <p:cNvPr id="11" name="Transcribe, mask,&#10;interpret and group">
            <a:extLst xmlns:a="http://schemas.openxmlformats.org/drawingml/2006/main">
              <a:ext uri="{FF2B5EF4-FFF2-40B4-BE49-F238E27FC236}">
                <a16:creationId xmlns:a16="http://schemas.microsoft.com/office/drawing/2014/main" id="{D3D059D9-76E7-45CA-A526-272006327969}"/>
              </a:ext>
            </a:extLst>
          </p:cNvPr>
          <p:cNvSpPr>
            <a:spLocks xmlns:a="http://schemas.openxmlformats.org/drawingml/2006/main" noGrp="1"/>
          </p:cNvSpPr>
          <p:nvPr/>
        </p:nvSpPr>
        <p:spPr>
          <a:xfrm xmlns:a="http://schemas.openxmlformats.org/drawingml/2006/main">
            <a:off x="3457575" y="4095750"/>
            <a:ext cx="2400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BCE0B8"/>
                </a:solidFill>
                <a:latin typeface="Arial"/>
                <a:ea typeface="Arial"/>
                <a:cs typeface="Arial"/>
              </a:defRPr>
            </a:pPr>
            <a:r>
              <a:rPr sz="1950" b="0">
                <a:solidFill>
                  <a:srgbClr val="BCE0B8"/>
                </a:solidFill>
                <a:latin typeface="Arial"/>
                <a:ea typeface="Arial"/>
                <a:cs typeface="Arial"/>
              </a:rPr>
              <a:t>Transcribe, mask,</a:t>
            </a:r>
          </a:p>
          <a:p xmlns:a="http://schemas.openxmlformats.org/drawingml/2006/main">
            <a:pPr>
              <a:defRPr sz="1950" b="0">
                <a:solidFill>
                  <a:srgbClr val="BCE0B8"/>
                </a:solidFill>
                <a:latin typeface="Arial"/>
                <a:ea typeface="Arial"/>
                <a:cs typeface="Arial"/>
              </a:defRPr>
            </a:pPr>
            <a:r>
              <a:rPr sz="1950" b="0">
                <a:solidFill>
                  <a:srgbClr val="BCE0B8"/>
                </a:solidFill>
                <a:latin typeface="Arial"/>
                <a:ea typeface="Arial"/>
                <a:cs typeface="Arial"/>
              </a:rPr>
              <a:t>interpret and group</a:t>
            </a:r>
          </a:p>
        </p:txBody>
      </p:sp>
      <p:sp>
        <p:nvSpPr>
          <p:cNvPr id="12" name="AI + validation">
            <a:extLst xmlns:a="http://schemas.openxmlformats.org/drawingml/2006/main">
              <a:ext uri="{FF2B5EF4-FFF2-40B4-BE49-F238E27FC236}">
                <a16:creationId xmlns:a16="http://schemas.microsoft.com/office/drawing/2014/main" id="{A4B5B279-AA22-4164-A227-841B051C41EA}"/>
              </a:ext>
            </a:extLst>
          </p:cNvPr>
          <p:cNvSpPr>
            <a:spLocks xmlns:a="http://schemas.openxmlformats.org/drawingml/2006/main" noGrp="1"/>
          </p:cNvSpPr>
          <p:nvPr/>
        </p:nvSpPr>
        <p:spPr>
          <a:xfrm xmlns:a="http://schemas.openxmlformats.org/drawingml/2006/main">
            <a:off x="3457575" y="5381625"/>
            <a:ext cx="2400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F7FAF3"/>
                </a:solidFill>
                <a:latin typeface="Arial"/>
                <a:ea typeface="Arial"/>
                <a:cs typeface="Arial"/>
              </a:defRPr>
            </a:pPr>
            <a:r>
              <a:rPr sz="1800" b="1">
                <a:solidFill>
                  <a:srgbClr val="F7FAF3"/>
                </a:solidFill>
                <a:latin typeface="Arial"/>
                <a:ea typeface="Arial"/>
                <a:cs typeface="Arial"/>
              </a:rPr>
              <a:t>AI + validation</a:t>
            </a:r>
          </a:p>
        </p:txBody>
      </p:sp>
      <p:sp>
        <p:nvSpPr>
          <p:cNvPr id="13" name="→">
            <a:extLst xmlns:a="http://schemas.openxmlformats.org/drawingml/2006/main">
              <a:ext uri="{FF2B5EF4-FFF2-40B4-BE49-F238E27FC236}">
                <a16:creationId xmlns:a16="http://schemas.microsoft.com/office/drawing/2014/main" id="{5D8B2BC8-8299-4E42-AEFC-D155899EE34D}"/>
              </a:ext>
            </a:extLst>
          </p:cNvPr>
          <p:cNvSpPr>
            <a:spLocks xmlns:a="http://schemas.openxmlformats.org/drawingml/2006/main" noGrp="1"/>
          </p:cNvSpPr>
          <p:nvPr/>
        </p:nvSpPr>
        <p:spPr>
          <a:xfrm xmlns:a="http://schemas.openxmlformats.org/drawingml/2006/main">
            <a:off x="5772150" y="3390900"/>
            <a:ext cx="43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BCE0B8"/>
                </a:solidFill>
                <a:latin typeface="Arial"/>
                <a:ea typeface="Arial"/>
                <a:cs typeface="Arial"/>
              </a:defRPr>
            </a:pPr>
            <a:r>
              <a:rPr sz="2175" b="0">
                <a:solidFill>
                  <a:srgbClr val="BCE0B8"/>
                </a:solidFill>
                <a:latin typeface="Arial"/>
                <a:ea typeface="Arial"/>
                <a:cs typeface="Arial"/>
              </a:rPr>
              <a:t>→</a:t>
            </a:r>
          </a:p>
        </p:txBody>
      </p:sp>
      <p:sp>
        <p:nvSpPr>
          <p:cNvPr id="14" name="03">
            <a:extLst xmlns:a="http://schemas.openxmlformats.org/drawingml/2006/main">
              <a:ext uri="{FF2B5EF4-FFF2-40B4-BE49-F238E27FC236}">
                <a16:creationId xmlns:a16="http://schemas.microsoft.com/office/drawing/2014/main" id="{DFB14802-15B0-4EE6-9170-80B5B36D8C73}"/>
              </a:ext>
            </a:extLst>
          </p:cNvPr>
          <p:cNvSpPr>
            <a:spLocks xmlns:a="http://schemas.openxmlformats.org/drawingml/2006/main" noGrp="1"/>
          </p:cNvSpPr>
          <p:nvPr/>
        </p:nvSpPr>
        <p:spPr>
          <a:xfrm xmlns:a="http://schemas.openxmlformats.org/drawingml/2006/main">
            <a:off x="6305550" y="2543175"/>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0">
                <a:solidFill>
                  <a:srgbClr val="BCE0B8"/>
                </a:solidFill>
                <a:latin typeface="Arial"/>
                <a:ea typeface="Arial"/>
                <a:cs typeface="Arial"/>
              </a:defRPr>
            </a:pPr>
            <a:r>
              <a:rPr sz="3675" b="0">
                <a:solidFill>
                  <a:srgbClr val="BCE0B8"/>
                </a:solidFill>
                <a:latin typeface="Arial"/>
                <a:ea typeface="Arial"/>
                <a:cs typeface="Arial"/>
              </a:rPr>
              <a:t>03</a:t>
            </a:r>
          </a:p>
        </p:txBody>
      </p:sp>
      <p:sp>
        <p:nvSpPr>
          <p:cNvPr id="15" name="Review">
            <a:extLst xmlns:a="http://schemas.openxmlformats.org/drawingml/2006/main">
              <a:ext uri="{FF2B5EF4-FFF2-40B4-BE49-F238E27FC236}">
                <a16:creationId xmlns:a16="http://schemas.microsoft.com/office/drawing/2014/main" id="{063DE1E5-3CF9-453A-8CFC-73FE92B53721}"/>
              </a:ext>
            </a:extLst>
          </p:cNvPr>
          <p:cNvSpPr>
            <a:spLocks xmlns:a="http://schemas.openxmlformats.org/drawingml/2006/main" noGrp="1"/>
          </p:cNvSpPr>
          <p:nvPr/>
        </p:nvSpPr>
        <p:spPr>
          <a:xfrm xmlns:a="http://schemas.openxmlformats.org/drawingml/2006/main">
            <a:off x="6305550" y="3400425"/>
            <a:ext cx="2305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F7FAF3"/>
                </a:solidFill>
                <a:latin typeface="Arial"/>
                <a:ea typeface="Arial"/>
                <a:cs typeface="Arial"/>
              </a:defRPr>
            </a:pPr>
            <a:r>
              <a:rPr sz="2400" b="1">
                <a:solidFill>
                  <a:srgbClr val="F7FAF3"/>
                </a:solidFill>
                <a:latin typeface="Arial"/>
                <a:ea typeface="Arial"/>
                <a:cs typeface="Arial"/>
              </a:rPr>
              <a:t>Review</a:t>
            </a:r>
          </a:p>
        </p:txBody>
      </p:sp>
      <p:sp>
        <p:nvSpPr>
          <p:cNvPr id="16" name="Check evidence,&#10;owner and rationale">
            <a:extLst xmlns:a="http://schemas.openxmlformats.org/drawingml/2006/main">
              <a:ext uri="{FF2B5EF4-FFF2-40B4-BE49-F238E27FC236}">
                <a16:creationId xmlns:a16="http://schemas.microsoft.com/office/drawing/2014/main" id="{44C321E7-1990-481D-AF6A-7FF92F53DA9F}"/>
              </a:ext>
            </a:extLst>
          </p:cNvPr>
          <p:cNvSpPr>
            <a:spLocks xmlns:a="http://schemas.openxmlformats.org/drawingml/2006/main" noGrp="1"/>
          </p:cNvSpPr>
          <p:nvPr/>
        </p:nvSpPr>
        <p:spPr>
          <a:xfrm xmlns:a="http://schemas.openxmlformats.org/drawingml/2006/main">
            <a:off x="6305550" y="4095750"/>
            <a:ext cx="2400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BCE0B8"/>
                </a:solidFill>
                <a:latin typeface="Arial"/>
                <a:ea typeface="Arial"/>
                <a:cs typeface="Arial"/>
              </a:defRPr>
            </a:pPr>
            <a:r>
              <a:rPr sz="1950" b="0">
                <a:solidFill>
                  <a:srgbClr val="BCE0B8"/>
                </a:solidFill>
                <a:latin typeface="Arial"/>
                <a:ea typeface="Arial"/>
                <a:cs typeface="Arial"/>
              </a:rPr>
              <a:t>Check evidence,</a:t>
            </a:r>
          </a:p>
          <a:p xmlns:a="http://schemas.openxmlformats.org/drawingml/2006/main">
            <a:pPr>
              <a:defRPr sz="1950" b="0">
                <a:solidFill>
                  <a:srgbClr val="BCE0B8"/>
                </a:solidFill>
                <a:latin typeface="Arial"/>
                <a:ea typeface="Arial"/>
                <a:cs typeface="Arial"/>
              </a:defRPr>
            </a:pPr>
            <a:r>
              <a:rPr sz="1950" b="0">
                <a:solidFill>
                  <a:srgbClr val="BCE0B8"/>
                </a:solidFill>
                <a:latin typeface="Arial"/>
                <a:ea typeface="Arial"/>
                <a:cs typeface="Arial"/>
              </a:rPr>
              <a:t>owner and rationale</a:t>
            </a:r>
          </a:p>
        </p:txBody>
      </p:sp>
      <p:sp>
        <p:nvSpPr>
          <p:cNvPr id="17" name="Human decision">
            <a:extLst xmlns:a="http://schemas.openxmlformats.org/drawingml/2006/main">
              <a:ext uri="{FF2B5EF4-FFF2-40B4-BE49-F238E27FC236}">
                <a16:creationId xmlns:a16="http://schemas.microsoft.com/office/drawing/2014/main" id="{AD61F18E-E412-4B9C-A633-9993A89C7C64}"/>
              </a:ext>
            </a:extLst>
          </p:cNvPr>
          <p:cNvSpPr>
            <a:spLocks xmlns:a="http://schemas.openxmlformats.org/drawingml/2006/main" noGrp="1"/>
          </p:cNvSpPr>
          <p:nvPr/>
        </p:nvSpPr>
        <p:spPr>
          <a:xfrm xmlns:a="http://schemas.openxmlformats.org/drawingml/2006/main">
            <a:off x="6305550" y="5381625"/>
            <a:ext cx="2400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F7FAF3"/>
                </a:solidFill>
                <a:latin typeface="Arial"/>
                <a:ea typeface="Arial"/>
                <a:cs typeface="Arial"/>
              </a:defRPr>
            </a:pPr>
            <a:r>
              <a:rPr sz="1800" b="1">
                <a:solidFill>
                  <a:srgbClr val="F7FAF3"/>
                </a:solidFill>
                <a:latin typeface="Arial"/>
                <a:ea typeface="Arial"/>
                <a:cs typeface="Arial"/>
              </a:rPr>
              <a:t>Human decision</a:t>
            </a:r>
          </a:p>
        </p:txBody>
      </p:sp>
      <p:sp>
        <p:nvSpPr>
          <p:cNvPr id="18" name="→">
            <a:extLst xmlns:a="http://schemas.openxmlformats.org/drawingml/2006/main">
              <a:ext uri="{FF2B5EF4-FFF2-40B4-BE49-F238E27FC236}">
                <a16:creationId xmlns:a16="http://schemas.microsoft.com/office/drawing/2014/main" id="{BD777CA3-C7F7-42A9-B542-44E3C8D2795E}"/>
              </a:ext>
            </a:extLst>
          </p:cNvPr>
          <p:cNvSpPr>
            <a:spLocks xmlns:a="http://schemas.openxmlformats.org/drawingml/2006/main" noGrp="1"/>
          </p:cNvSpPr>
          <p:nvPr/>
        </p:nvSpPr>
        <p:spPr>
          <a:xfrm xmlns:a="http://schemas.openxmlformats.org/drawingml/2006/main">
            <a:off x="8620125" y="3390900"/>
            <a:ext cx="43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BCE0B8"/>
                </a:solidFill>
                <a:latin typeface="Arial"/>
                <a:ea typeface="Arial"/>
                <a:cs typeface="Arial"/>
              </a:defRPr>
            </a:pPr>
            <a:r>
              <a:rPr sz="2175" b="0">
                <a:solidFill>
                  <a:srgbClr val="BCE0B8"/>
                </a:solidFill>
                <a:latin typeface="Arial"/>
                <a:ea typeface="Arial"/>
                <a:cs typeface="Arial"/>
              </a:rPr>
              <a:t>→</a:t>
            </a:r>
          </a:p>
        </p:txBody>
      </p:sp>
      <p:sp>
        <p:nvSpPr>
          <p:cNvPr id="19" name="04">
            <a:extLst xmlns:a="http://schemas.openxmlformats.org/drawingml/2006/main">
              <a:ext uri="{FF2B5EF4-FFF2-40B4-BE49-F238E27FC236}">
                <a16:creationId xmlns:a16="http://schemas.microsoft.com/office/drawing/2014/main" id="{75A1DC7E-641F-4BAB-824B-571FBB528F8D}"/>
              </a:ext>
            </a:extLst>
          </p:cNvPr>
          <p:cNvSpPr>
            <a:spLocks xmlns:a="http://schemas.openxmlformats.org/drawingml/2006/main" noGrp="1"/>
          </p:cNvSpPr>
          <p:nvPr/>
        </p:nvSpPr>
        <p:spPr>
          <a:xfrm xmlns:a="http://schemas.openxmlformats.org/drawingml/2006/main">
            <a:off x="9153525" y="2543175"/>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75" b="0">
                <a:solidFill>
                  <a:srgbClr val="BCE0B8"/>
                </a:solidFill>
                <a:latin typeface="Arial"/>
                <a:ea typeface="Arial"/>
                <a:cs typeface="Arial"/>
              </a:defRPr>
            </a:pPr>
            <a:r>
              <a:rPr sz="3675" b="0">
                <a:solidFill>
                  <a:srgbClr val="BCE0B8"/>
                </a:solidFill>
                <a:latin typeface="Arial"/>
                <a:ea typeface="Arial"/>
                <a:cs typeface="Arial"/>
              </a:rPr>
              <a:t>04</a:t>
            </a:r>
          </a:p>
        </p:txBody>
      </p:sp>
      <p:sp>
        <p:nvSpPr>
          <p:cNvPr id="20" name="Compare">
            <a:extLst xmlns:a="http://schemas.openxmlformats.org/drawingml/2006/main">
              <a:ext uri="{FF2B5EF4-FFF2-40B4-BE49-F238E27FC236}">
                <a16:creationId xmlns:a16="http://schemas.microsoft.com/office/drawing/2014/main" id="{CD7EC007-9251-4D46-9CE9-252A37B3969A}"/>
              </a:ext>
            </a:extLst>
          </p:cNvPr>
          <p:cNvSpPr>
            <a:spLocks xmlns:a="http://schemas.openxmlformats.org/drawingml/2006/main" noGrp="1"/>
          </p:cNvSpPr>
          <p:nvPr/>
        </p:nvSpPr>
        <p:spPr>
          <a:xfrm xmlns:a="http://schemas.openxmlformats.org/drawingml/2006/main">
            <a:off x="9153525" y="3400425"/>
            <a:ext cx="2305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F7FAF3"/>
                </a:solidFill>
                <a:latin typeface="Arial"/>
                <a:ea typeface="Arial"/>
                <a:cs typeface="Arial"/>
              </a:defRPr>
            </a:pPr>
            <a:r>
              <a:rPr sz="2400" b="1">
                <a:solidFill>
                  <a:srgbClr val="F7FAF3"/>
                </a:solidFill>
                <a:latin typeface="Arial"/>
                <a:ea typeface="Arial"/>
                <a:cs typeface="Arial"/>
              </a:rPr>
              <a:t>Compare</a:t>
            </a:r>
          </a:p>
        </p:txBody>
      </p:sp>
      <p:sp>
        <p:nvSpPr>
          <p:cNvPr id="21" name="Count issue calls&#10;before and after">
            <a:extLst xmlns:a="http://schemas.openxmlformats.org/drawingml/2006/main">
              <a:ext uri="{FF2B5EF4-FFF2-40B4-BE49-F238E27FC236}">
                <a16:creationId xmlns:a16="http://schemas.microsoft.com/office/drawing/2014/main" id="{6AE9B8F2-D6C4-464F-9F91-1F3FD2F578F9}"/>
              </a:ext>
            </a:extLst>
          </p:cNvPr>
          <p:cNvSpPr>
            <a:spLocks xmlns:a="http://schemas.openxmlformats.org/drawingml/2006/main" noGrp="1"/>
          </p:cNvSpPr>
          <p:nvPr/>
        </p:nvSpPr>
        <p:spPr>
          <a:xfrm xmlns:a="http://schemas.openxmlformats.org/drawingml/2006/main">
            <a:off x="9153525" y="4095750"/>
            <a:ext cx="2400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BCE0B8"/>
                </a:solidFill>
                <a:latin typeface="Arial"/>
                <a:ea typeface="Arial"/>
                <a:cs typeface="Arial"/>
              </a:defRPr>
            </a:pPr>
            <a:r>
              <a:rPr sz="1950" b="0">
                <a:solidFill>
                  <a:srgbClr val="BCE0B8"/>
                </a:solidFill>
                <a:latin typeface="Arial"/>
                <a:ea typeface="Arial"/>
                <a:cs typeface="Arial"/>
              </a:rPr>
              <a:t>Count issue calls</a:t>
            </a:r>
          </a:p>
          <a:p xmlns:a="http://schemas.openxmlformats.org/drawingml/2006/main">
            <a:pPr>
              <a:defRPr sz="1950" b="0">
                <a:solidFill>
                  <a:srgbClr val="BCE0B8"/>
                </a:solidFill>
                <a:latin typeface="Arial"/>
                <a:ea typeface="Arial"/>
                <a:cs typeface="Arial"/>
              </a:defRPr>
            </a:pPr>
            <a:r>
              <a:rPr sz="1950" b="0">
                <a:solidFill>
                  <a:srgbClr val="BCE0B8"/>
                </a:solidFill>
                <a:latin typeface="Arial"/>
                <a:ea typeface="Arial"/>
                <a:cs typeface="Arial"/>
              </a:rPr>
              <a:t>before and after</a:t>
            </a:r>
          </a:p>
        </p:txBody>
      </p:sp>
      <p:sp>
        <p:nvSpPr>
          <p:cNvPr id="22" name="Observational">
            <a:extLst xmlns:a="http://schemas.openxmlformats.org/drawingml/2006/main">
              <a:ext uri="{FF2B5EF4-FFF2-40B4-BE49-F238E27FC236}">
                <a16:creationId xmlns:a16="http://schemas.microsoft.com/office/drawing/2014/main" id="{8C5D9C0F-5901-4D90-AF2F-E50DA3C316D9}"/>
              </a:ext>
            </a:extLst>
          </p:cNvPr>
          <p:cNvSpPr>
            <a:spLocks xmlns:a="http://schemas.openxmlformats.org/drawingml/2006/main" noGrp="1"/>
          </p:cNvSpPr>
          <p:nvPr/>
        </p:nvSpPr>
        <p:spPr>
          <a:xfrm xmlns:a="http://schemas.openxmlformats.org/drawingml/2006/main">
            <a:off x="9153525" y="5381625"/>
            <a:ext cx="2400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F7FAF3"/>
                </a:solidFill>
                <a:latin typeface="Arial"/>
                <a:ea typeface="Arial"/>
                <a:cs typeface="Arial"/>
              </a:defRPr>
            </a:pPr>
            <a:r>
              <a:rPr sz="1800" b="1">
                <a:solidFill>
                  <a:srgbClr val="F7FAF3"/>
                </a:solidFill>
                <a:latin typeface="Arial"/>
                <a:ea typeface="Arial"/>
                <a:cs typeface="Arial"/>
              </a:rPr>
              <a:t>Observational</a:t>
            </a:r>
          </a:p>
        </p:txBody>
      </p:sp>
      <p:sp>
        <p:nvSpPr>
          <p:cNvPr id="23" name="Local by default. Configured compatible analysis p">
            <a:extLst xmlns:a="http://schemas.openxmlformats.org/drawingml/2006/main">
              <a:ext uri="{FF2B5EF4-FFF2-40B4-BE49-F238E27FC236}">
                <a16:creationId xmlns:a16="http://schemas.microsoft.com/office/drawing/2014/main" id="{E80AA7F1-278A-4C02-8CC5-BEF77659AF99}"/>
              </a:ext>
            </a:extLst>
          </p:cNvPr>
          <p:cNvSpPr>
            <a:spLocks xmlns:a="http://schemas.openxmlformats.org/drawingml/2006/main" noGrp="1"/>
          </p:cNvSpPr>
          <p:nvPr/>
        </p:nvSpPr>
        <p:spPr>
          <a:xfrm xmlns:a="http://schemas.openxmlformats.org/drawingml/2006/main">
            <a:off x="609600" y="62484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BCE0B8"/>
                </a:solidFill>
                <a:latin typeface="Arial"/>
                <a:ea typeface="Arial"/>
                <a:cs typeface="Arial"/>
              </a:defRPr>
            </a:pPr>
            <a:r>
              <a:rPr sz="1275" b="0">
                <a:solidFill>
                  <a:srgbClr val="BCE0B8"/>
                </a:solidFill>
                <a:latin typeface="Arial"/>
                <a:ea typeface="Arial"/>
                <a:cs typeface="Arial"/>
              </a:rPr>
              <a:t>Local by default. Configured compatible analysis providers and versioned company rules.</a:t>
            </a:r>
          </a:p>
        </p:txBody>
      </p:sp>
    </p:spTree>
    <p:extLst>
      <p:ext uri="{BB962C8B-B14F-4D97-AF65-F5344CB8AC3E}">
        <p14:creationId xmlns:p14="http://schemas.microsoft.com/office/powerpoint/2010/main" val="681734053"/>
      </p:ext>
    </p:extLst>
  </p:cSld>
</p:sld>
</file>

<file path=ppt/slides/slide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WORKING PROTOTYPE AND MEANINGFUL AI CONTRIBUTION: ">
            <a:extLst xmlns:a="http://schemas.openxmlformats.org/drawingml/2006/main">
              <a:ext uri="{FF2B5EF4-FFF2-40B4-BE49-F238E27FC236}">
                <a16:creationId xmlns:a16="http://schemas.microsoft.com/office/drawing/2014/main" id="{3B103540-B7C7-4B04-8402-B39DB5A328DF}"/>
              </a:ext>
            </a:extLst>
          </p:cNvPr>
          <p:cNvSpPr>
            <a:spLocks xmlns:a="http://schemas.openxmlformats.org/drawingml/2006/main" noGrp="1"/>
          </p:cNvSpPr>
          <p:nvPr/>
        </p:nvSpPr>
        <p:spPr>
          <a:xfrm xmlns:a="http://schemas.openxmlformats.org/drawingml/2006/main">
            <a:off x="609600" y="40957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67554"/>
                </a:solidFill>
                <a:latin typeface="Arial"/>
                <a:ea typeface="Arial"/>
                <a:cs typeface="Arial"/>
              </a:defRPr>
            </a:pPr>
            <a:r>
              <a:rPr sz="1125" b="1">
                <a:solidFill>
                  <a:srgbClr val="267554"/>
                </a:solidFill>
                <a:latin typeface="Arial"/>
                <a:ea typeface="Arial"/>
                <a:cs typeface="Arial"/>
              </a:rPr>
              <a:t>WORKING PROTOTYPE AND MEANINGFUL AI CONTRIBUTION: 30 POINTS</a:t>
            </a:r>
          </a:p>
        </p:txBody>
      </p:sp>
      <p:sp>
        <p:nvSpPr>
          <p:cNvPr id="2" name="A recommendation the reviewer&#10;can trace to the cal">
            <a:extLst xmlns:a="http://schemas.openxmlformats.org/drawingml/2006/main">
              <a:ext uri="{FF2B5EF4-FFF2-40B4-BE49-F238E27FC236}">
                <a16:creationId xmlns:a16="http://schemas.microsoft.com/office/drawing/2014/main" id="{D79845E5-6E1C-4CF5-821E-1FD9A748EEBB}"/>
              </a:ext>
            </a:extLst>
          </p:cNvPr>
          <p:cNvSpPr>
            <a:spLocks xmlns:a="http://schemas.openxmlformats.org/drawingml/2006/main" noGrp="1"/>
          </p:cNvSpPr>
          <p:nvPr/>
        </p:nvSpPr>
        <p:spPr>
          <a:xfrm xmlns:a="http://schemas.openxmlformats.org/drawingml/2006/main">
            <a:off x="609600" y="10287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75" b="1">
                <a:solidFill>
                  <a:srgbClr val="123E32"/>
                </a:solidFill>
                <a:latin typeface="Arial"/>
                <a:ea typeface="Arial"/>
                <a:cs typeface="Arial"/>
              </a:defRPr>
            </a:pPr>
            <a:r>
              <a:rPr sz="3975" b="1">
                <a:solidFill>
                  <a:srgbClr val="123E32"/>
                </a:solidFill>
                <a:latin typeface="Arial"/>
                <a:ea typeface="Arial"/>
                <a:cs typeface="Arial"/>
              </a:rPr>
              <a:t>A recommendation the reviewer</a:t>
            </a:r>
          </a:p>
          <a:p xmlns:a="http://schemas.openxmlformats.org/drawingml/2006/main">
            <a:pPr>
              <a:defRPr sz="3975" b="1">
                <a:solidFill>
                  <a:srgbClr val="123E32"/>
                </a:solidFill>
                <a:latin typeface="Arial"/>
                <a:ea typeface="Arial"/>
                <a:cs typeface="Arial"/>
              </a:defRPr>
            </a:pPr>
            <a:r>
              <a:rPr sz="3975" b="1">
                <a:solidFill>
                  <a:srgbClr val="123E32"/>
                </a:solidFill>
                <a:latin typeface="Arial"/>
                <a:ea typeface="Arial"/>
                <a:cs typeface="Arial"/>
              </a:rPr>
              <a:t>can trace to the call</a:t>
            </a:r>
          </a:p>
        </p:txBody>
      </p:sp>
      <p:sp>
        <p:nvSpPr>
          <p:cNvPr id="3" name="03">
            <a:extLst xmlns:a="http://schemas.openxmlformats.org/drawingml/2006/main">
              <a:ext uri="{FF2B5EF4-FFF2-40B4-BE49-F238E27FC236}">
                <a16:creationId xmlns:a16="http://schemas.microsoft.com/office/drawing/2014/main" id="{ADF1BFF1-24BC-4E70-92BC-B75807CEAAD2}"/>
              </a:ext>
            </a:extLst>
          </p:cNvPr>
          <p:cNvSpPr>
            <a:spLocks xmlns:a="http://schemas.openxmlformats.org/drawingml/2006/main" noGrp="1"/>
          </p:cNvSpPr>
          <p:nvPr/>
        </p:nvSpPr>
        <p:spPr>
          <a:xfrm xmlns:a="http://schemas.openxmlformats.org/drawingml/2006/main">
            <a:off x="11125200" y="63817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B7066"/>
                </a:solidFill>
                <a:latin typeface="Arial"/>
                <a:ea typeface="Arial"/>
                <a:cs typeface="Arial"/>
              </a:defRPr>
            </a:pPr>
            <a:r>
              <a:rPr sz="1125" b="0">
                <a:solidFill>
                  <a:srgbClr val="5B7066"/>
                </a:solidFill>
                <a:latin typeface="Arial"/>
                <a:ea typeface="Arial"/>
                <a:cs typeface="Arial"/>
              </a:rPr>
              <a:t>03</a:t>
            </a:r>
          </a:p>
        </p:txBody>
      </p:sp>
      <p:sp>
        <p:nvSpPr>
          <p:cNvPr id="4" name="2 calls">
            <a:extLst xmlns:a="http://schemas.openxmlformats.org/drawingml/2006/main">
              <a:ext uri="{FF2B5EF4-FFF2-40B4-BE49-F238E27FC236}">
                <a16:creationId xmlns:a16="http://schemas.microsoft.com/office/drawing/2014/main" id="{B53140F2-3035-4256-8861-3754CAF0EE80}"/>
              </a:ext>
            </a:extLst>
          </p:cNvPr>
          <p:cNvSpPr>
            <a:spLocks xmlns:a="http://schemas.openxmlformats.org/drawingml/2006/main" noGrp="1"/>
          </p:cNvSpPr>
          <p:nvPr/>
        </p:nvSpPr>
        <p:spPr>
          <a:xfrm xmlns:a="http://schemas.openxmlformats.org/drawingml/2006/main">
            <a:off x="609600" y="2647950"/>
            <a:ext cx="266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025" b="1">
                <a:solidFill>
                  <a:srgbClr val="267554"/>
                </a:solidFill>
                <a:latin typeface="Arial"/>
                <a:ea typeface="Arial"/>
                <a:cs typeface="Arial"/>
              </a:defRPr>
            </a:pPr>
            <a:r>
              <a:rPr sz="5025" b="1">
                <a:solidFill>
                  <a:srgbClr val="267554"/>
                </a:solidFill>
                <a:latin typeface="Arial"/>
                <a:ea typeface="Arial"/>
                <a:cs typeface="Arial"/>
              </a:rPr>
              <a:t>2 calls</a:t>
            </a:r>
          </a:p>
        </p:txBody>
      </p:sp>
      <p:sp>
        <p:nvSpPr>
          <p:cNvPr id="5" name="1 fictional customer">
            <a:extLst xmlns:a="http://schemas.openxmlformats.org/drawingml/2006/main">
              <a:ext uri="{FF2B5EF4-FFF2-40B4-BE49-F238E27FC236}">
                <a16:creationId xmlns:a16="http://schemas.microsoft.com/office/drawing/2014/main" id="{9823FA26-346E-4E69-B17E-627287FAA761}"/>
              </a:ext>
            </a:extLst>
          </p:cNvPr>
          <p:cNvSpPr>
            <a:spLocks xmlns:a="http://schemas.openxmlformats.org/drawingml/2006/main" noGrp="1"/>
          </p:cNvSpPr>
          <p:nvPr/>
        </p:nvSpPr>
        <p:spPr>
          <a:xfrm xmlns:a="http://schemas.openxmlformats.org/drawingml/2006/main">
            <a:off x="609600" y="3533775"/>
            <a:ext cx="2705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23E32"/>
                </a:solidFill>
                <a:latin typeface="Arial"/>
                <a:ea typeface="Arial"/>
                <a:cs typeface="Arial"/>
              </a:defRPr>
            </a:pPr>
            <a:r>
              <a:rPr sz="1950" b="1">
                <a:solidFill>
                  <a:srgbClr val="123E32"/>
                </a:solidFill>
                <a:latin typeface="Arial"/>
                <a:ea typeface="Arial"/>
                <a:cs typeface="Arial"/>
              </a:rPr>
              <a:t>1 fictional customer</a:t>
            </a:r>
          </a:p>
        </p:txBody>
      </p:sp>
      <p:sp>
        <p:nvSpPr>
          <p:cNvPr id="6" name="Inspect decline logs.&#10;Verify any charge.">
            <a:extLst xmlns:a="http://schemas.openxmlformats.org/drawingml/2006/main">
              <a:ext uri="{FF2B5EF4-FFF2-40B4-BE49-F238E27FC236}">
                <a16:creationId xmlns:a16="http://schemas.microsoft.com/office/drawing/2014/main" id="{067C7A0D-74FE-4A07-85A2-E86E1E76EA27}"/>
              </a:ext>
            </a:extLst>
          </p:cNvPr>
          <p:cNvSpPr>
            <a:spLocks xmlns:a="http://schemas.openxmlformats.org/drawingml/2006/main" noGrp="1"/>
          </p:cNvSpPr>
          <p:nvPr/>
        </p:nvSpPr>
        <p:spPr>
          <a:xfrm xmlns:a="http://schemas.openxmlformats.org/drawingml/2006/main">
            <a:off x="609600" y="4514850"/>
            <a:ext cx="27813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23E32"/>
                </a:solidFill>
                <a:latin typeface="Arial"/>
                <a:ea typeface="Arial"/>
                <a:cs typeface="Arial"/>
              </a:defRPr>
            </a:pPr>
            <a:r>
              <a:rPr sz="2400" b="1">
                <a:solidFill>
                  <a:srgbClr val="123E32"/>
                </a:solidFill>
                <a:latin typeface="Arial"/>
                <a:ea typeface="Arial"/>
                <a:cs typeface="Arial"/>
              </a:rPr>
              <a:t>Inspect decline logs.</a:t>
            </a:r>
          </a:p>
          <a:p xmlns:a="http://schemas.openxmlformats.org/drawingml/2006/main">
            <a:pPr>
              <a:defRPr sz="2400" b="1">
                <a:solidFill>
                  <a:srgbClr val="123E32"/>
                </a:solidFill>
                <a:latin typeface="Arial"/>
                <a:ea typeface="Arial"/>
                <a:cs typeface="Arial"/>
              </a:defRPr>
            </a:pPr>
            <a:r>
              <a:rPr sz="2400" b="1">
                <a:solidFill>
                  <a:srgbClr val="123E32"/>
                </a:solidFill>
                <a:latin typeface="Arial"/>
                <a:ea typeface="Arial"/>
                <a:cs typeface="Arial"/>
              </a:rPr>
              <a:t>Verify any charge.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060ed54585540b4"/>
          <a:srcRect xmlns:a="http://schemas.openxmlformats.org/drawingml/2006/main" l="0" t="11069" r="0" b="11069"/>
          <a:stretch xmlns:a="http://schemas.openxmlformats.org/drawingml/2006/main">
            <a:fillRect l="0" t="0" r="0" b="0"/>
          </a:stretch>
        </p:blipFill>
        <p:spPr>
          <a:xfrm xmlns:a="http://schemas.openxmlformats.org/drawingml/2006/main">
            <a:off x="3562350" y="2400300"/>
            <a:ext cx="8020050" cy="3514725"/>
          </a:xfrm>
          <a:prstGeom xmlns:a="http://schemas.openxmlformats.org/drawingml/2006/main" prst="rect">
            <a:avLst/>
          </a:prstGeom>
        </p:spPr>
      </p:pic>
      <p:sp>
        <p:nvSpPr>
          <p:cNvPr id="8" name="Prepared AI output with editorial titles and maski">
            <a:extLst xmlns:a="http://schemas.openxmlformats.org/drawingml/2006/main">
              <a:ext uri="{FF2B5EF4-FFF2-40B4-BE49-F238E27FC236}">
                <a16:creationId xmlns:a16="http://schemas.microsoft.com/office/drawing/2014/main" id="{98C494A2-11A6-4926-9E36-F5B2E3707310}"/>
              </a:ext>
            </a:extLst>
          </p:cNvPr>
          <p:cNvSpPr>
            <a:spLocks xmlns:a="http://schemas.openxmlformats.org/drawingml/2006/main" noGrp="1"/>
          </p:cNvSpPr>
          <p:nvPr/>
        </p:nvSpPr>
        <p:spPr>
          <a:xfrm xmlns:a="http://schemas.openxmlformats.org/drawingml/2006/main">
            <a:off x="609600" y="62484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B7066"/>
                </a:solidFill>
                <a:latin typeface="Arial"/>
                <a:ea typeface="Arial"/>
                <a:cs typeface="Arial"/>
              </a:defRPr>
            </a:pPr>
            <a:r>
              <a:rPr sz="1275" b="0">
                <a:solidFill>
                  <a:srgbClr val="5B7066"/>
                </a:solidFill>
                <a:latin typeface="Arial"/>
                <a:ea typeface="Arial"/>
                <a:cs typeface="Arial"/>
              </a:rPr>
              <a:t>Prepared AI output with editorial titles and masking corrections. Seeded decisions are illustrative.</a:t>
            </a:r>
          </a:p>
        </p:txBody>
      </p:sp>
    </p:spTree>
    <p:extLst>
      <p:ext uri="{BB962C8B-B14F-4D97-AF65-F5344CB8AC3E}">
        <p14:creationId xmlns:p14="http://schemas.microsoft.com/office/powerpoint/2010/main" val="1201705603"/>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1" name="QUALITY TESTING, FAILURES AND COMPARISON WITH THE ">
            <a:extLst xmlns:a="http://schemas.openxmlformats.org/drawingml/2006/main">
              <a:ext uri="{FF2B5EF4-FFF2-40B4-BE49-F238E27FC236}">
                <a16:creationId xmlns:a16="http://schemas.microsoft.com/office/drawing/2014/main" id="{D97999D6-C900-4592-A1BA-33A12C20245F}"/>
              </a:ext>
            </a:extLst>
          </p:cNvPr>
          <p:cNvSpPr>
            <a:spLocks xmlns:a="http://schemas.openxmlformats.org/drawingml/2006/main" noGrp="1"/>
          </p:cNvSpPr>
          <p:nvPr/>
        </p:nvSpPr>
        <p:spPr>
          <a:xfrm xmlns:a="http://schemas.openxmlformats.org/drawingml/2006/main">
            <a:off x="609600" y="40957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67554"/>
                </a:solidFill>
                <a:latin typeface="Arial"/>
                <a:ea typeface="Arial"/>
                <a:cs typeface="Arial"/>
              </a:defRPr>
            </a:pPr>
            <a:r>
              <a:rPr sz="1125" b="1">
                <a:solidFill>
                  <a:srgbClr val="267554"/>
                </a:solidFill>
                <a:latin typeface="Arial"/>
                <a:ea typeface="Arial"/>
                <a:cs typeface="Arial"/>
              </a:rPr>
              <a:t>QUALITY TESTING, FAILURES AND COMPARISON WITH THE CURRENT APPROACH: 20 POINTS</a:t>
            </a:r>
          </a:p>
        </p:txBody>
      </p:sp>
      <p:sp>
        <p:nvSpPr>
          <p:cNvPr id="2" name="Measured quality&#10;and remaining failures">
            <a:extLst xmlns:a="http://schemas.openxmlformats.org/drawingml/2006/main">
              <a:ext uri="{FF2B5EF4-FFF2-40B4-BE49-F238E27FC236}">
                <a16:creationId xmlns:a16="http://schemas.microsoft.com/office/drawing/2014/main" id="{9E572E28-D463-4BB5-96AA-BE6CD2B89F6E}"/>
              </a:ext>
            </a:extLst>
          </p:cNvPr>
          <p:cNvSpPr>
            <a:spLocks xmlns:a="http://schemas.openxmlformats.org/drawingml/2006/main" noGrp="1"/>
          </p:cNvSpPr>
          <p:nvPr/>
        </p:nvSpPr>
        <p:spPr>
          <a:xfrm xmlns:a="http://schemas.openxmlformats.org/drawingml/2006/main">
            <a:off x="609600" y="10287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75" b="1">
                <a:solidFill>
                  <a:srgbClr val="123E32"/>
                </a:solidFill>
                <a:latin typeface="Arial"/>
                <a:ea typeface="Arial"/>
                <a:cs typeface="Arial"/>
              </a:defRPr>
            </a:pPr>
            <a:r>
              <a:rPr sz="3975" b="1">
                <a:solidFill>
                  <a:srgbClr val="123E32"/>
                </a:solidFill>
                <a:latin typeface="Arial"/>
                <a:ea typeface="Arial"/>
                <a:cs typeface="Arial"/>
              </a:rPr>
              <a:t>Measured quality</a:t>
            </a:r>
          </a:p>
          <a:p xmlns:a="http://schemas.openxmlformats.org/drawingml/2006/main">
            <a:pPr>
              <a:defRPr sz="3975" b="1">
                <a:solidFill>
                  <a:srgbClr val="123E32"/>
                </a:solidFill>
                <a:latin typeface="Arial"/>
                <a:ea typeface="Arial"/>
                <a:cs typeface="Arial"/>
              </a:defRPr>
            </a:pPr>
            <a:r>
              <a:rPr sz="3975" b="1">
                <a:solidFill>
                  <a:srgbClr val="123E32"/>
                </a:solidFill>
                <a:latin typeface="Arial"/>
                <a:ea typeface="Arial"/>
                <a:cs typeface="Arial"/>
              </a:rPr>
              <a:t>and remaining failures</a:t>
            </a:r>
          </a:p>
        </p:txBody>
      </p:sp>
      <p:sp>
        <p:nvSpPr>
          <p:cNvPr id="3" name="04">
            <a:extLst xmlns:a="http://schemas.openxmlformats.org/drawingml/2006/main">
              <a:ext uri="{FF2B5EF4-FFF2-40B4-BE49-F238E27FC236}">
                <a16:creationId xmlns:a16="http://schemas.microsoft.com/office/drawing/2014/main" id="{07DA4243-97CD-42DA-BC5E-F34716D6C670}"/>
              </a:ext>
            </a:extLst>
          </p:cNvPr>
          <p:cNvSpPr>
            <a:spLocks xmlns:a="http://schemas.openxmlformats.org/drawingml/2006/main" noGrp="1"/>
          </p:cNvSpPr>
          <p:nvPr/>
        </p:nvSpPr>
        <p:spPr>
          <a:xfrm xmlns:a="http://schemas.openxmlformats.org/drawingml/2006/main">
            <a:off x="11125200" y="63817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B7066"/>
                </a:solidFill>
                <a:latin typeface="Arial"/>
                <a:ea typeface="Arial"/>
                <a:cs typeface="Arial"/>
              </a:defRPr>
            </a:pPr>
            <a:r>
              <a:rPr sz="1125" b="0">
                <a:solidFill>
                  <a:srgbClr val="5B7066"/>
                </a:solidFill>
                <a:latin typeface="Arial"/>
                <a:ea typeface="Arial"/>
                <a:cs typeface="Arial"/>
              </a:rPr>
              <a:t>04</a:t>
            </a:r>
          </a:p>
        </p:txBody>
      </p:sp>
      <p:sp>
        <p:nvSpPr>
          <p:cNvPr id="4" name="87.5% precision / 100% recall">
            <a:extLst xmlns:a="http://schemas.openxmlformats.org/drawingml/2006/main">
              <a:ext uri="{FF2B5EF4-FFF2-40B4-BE49-F238E27FC236}">
                <a16:creationId xmlns:a16="http://schemas.microsoft.com/office/drawing/2014/main" id="{8A9E83CC-9884-48C4-BAE3-F589AC4D6410}"/>
              </a:ext>
            </a:extLst>
          </p:cNvPr>
          <p:cNvSpPr>
            <a:spLocks xmlns:a="http://schemas.openxmlformats.org/drawingml/2006/main" noGrp="1"/>
          </p:cNvSpPr>
          <p:nvPr/>
        </p:nvSpPr>
        <p:spPr>
          <a:xfrm xmlns:a="http://schemas.openxmlformats.org/drawingml/2006/main">
            <a:off x="609600" y="257175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75" b="1">
                <a:solidFill>
                  <a:srgbClr val="267554"/>
                </a:solidFill>
                <a:latin typeface="Arial"/>
                <a:ea typeface="Arial"/>
                <a:cs typeface="Arial"/>
              </a:defRPr>
            </a:pPr>
            <a:r>
              <a:rPr sz="3075" b="1">
                <a:solidFill>
                  <a:srgbClr val="267554"/>
                </a:solidFill>
                <a:latin typeface="Arial"/>
                <a:ea typeface="Arial"/>
                <a:cs typeface="Arial"/>
              </a:rPr>
              <a:t>87.5% precision / 100% recall</a:t>
            </a:r>
          </a:p>
        </p:txBody>
      </p:sp>
      <p:sp>
        <p:nvSpPr>
          <p:cNvPr id="5" name="8 synthetic cases · 7 labeled issues · Lexical mea">
            <a:extLst xmlns:a="http://schemas.openxmlformats.org/drawingml/2006/main">
              <a:ext uri="{FF2B5EF4-FFF2-40B4-BE49-F238E27FC236}">
                <a16:creationId xmlns:a16="http://schemas.microsoft.com/office/drawing/2014/main" id="{799F468B-1996-4749-80B4-8B37A100569C}"/>
              </a:ext>
            </a:extLst>
          </p:cNvPr>
          <p:cNvSpPr>
            <a:spLocks xmlns:a="http://schemas.openxmlformats.org/drawingml/2006/main" noGrp="1"/>
          </p:cNvSpPr>
          <p:nvPr/>
        </p:nvSpPr>
        <p:spPr>
          <a:xfrm xmlns:a="http://schemas.openxmlformats.org/drawingml/2006/main">
            <a:off x="609600" y="32004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B7066"/>
                </a:solidFill>
                <a:latin typeface="Arial"/>
                <a:ea typeface="Arial"/>
                <a:cs typeface="Arial"/>
              </a:defRPr>
            </a:pPr>
            <a:r>
              <a:rPr sz="1950" b="0">
                <a:solidFill>
                  <a:srgbClr val="5B7066"/>
                </a:solidFill>
                <a:latin typeface="Arial"/>
                <a:ea typeface="Arial"/>
                <a:cs typeface="Arial"/>
              </a:rPr>
              <a:t>8 synthetic cases · 7 labeled issues · Lexical measures</a:t>
            </a:r>
          </a:p>
        </p:txBody>
      </p:sp>
      <p:sp>
        <p:nvSpPr>
          <p:cNvPr id="6" name="Keyword baseline">
            <a:extLst xmlns:a="http://schemas.openxmlformats.org/drawingml/2006/main">
              <a:ext uri="{FF2B5EF4-FFF2-40B4-BE49-F238E27FC236}">
                <a16:creationId xmlns:a16="http://schemas.microsoft.com/office/drawing/2014/main" id="{EE6732EA-3935-40A6-974B-55D846254B47}"/>
              </a:ext>
            </a:extLst>
          </p:cNvPr>
          <p:cNvSpPr>
            <a:spLocks xmlns:a="http://schemas.openxmlformats.org/drawingml/2006/main" noGrp="1"/>
          </p:cNvSpPr>
          <p:nvPr/>
        </p:nvSpPr>
        <p:spPr>
          <a:xfrm xmlns:a="http://schemas.openxmlformats.org/drawingml/2006/main">
            <a:off x="609600" y="4086225"/>
            <a:ext cx="50863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3E32"/>
                </a:solidFill>
                <a:latin typeface="Arial"/>
                <a:ea typeface="Arial"/>
                <a:cs typeface="Arial"/>
              </a:defRPr>
            </a:pPr>
            <a:r>
              <a:rPr sz="2100" b="1">
                <a:solidFill>
                  <a:srgbClr val="123E32"/>
                </a:solidFill>
                <a:latin typeface="Arial"/>
                <a:ea typeface="Arial"/>
                <a:cs typeface="Arial"/>
              </a:rPr>
              <a:t>Keyword baseline</a:t>
            </a:r>
          </a:p>
        </p:txBody>
      </p:sp>
      <p:sp>
        <p:nvSpPr>
          <p:cNvPr id="7" name="100% precision / 42.9% recall&#10;3 matched issues; AI">
            <a:extLst xmlns:a="http://schemas.openxmlformats.org/drawingml/2006/main">
              <a:ext uri="{FF2B5EF4-FFF2-40B4-BE49-F238E27FC236}">
                <a16:creationId xmlns:a16="http://schemas.microsoft.com/office/drawing/2014/main" id="{236FD954-34BD-4191-B4CD-48190D507975}"/>
              </a:ext>
            </a:extLst>
          </p:cNvPr>
          <p:cNvSpPr>
            <a:spLocks xmlns:a="http://schemas.openxmlformats.org/drawingml/2006/main" noGrp="1"/>
          </p:cNvSpPr>
          <p:nvPr/>
        </p:nvSpPr>
        <p:spPr>
          <a:xfrm xmlns:a="http://schemas.openxmlformats.org/drawingml/2006/main">
            <a:off x="609600" y="4591050"/>
            <a:ext cx="51625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B7066"/>
                </a:solidFill>
                <a:latin typeface="Arial"/>
                <a:ea typeface="Arial"/>
                <a:cs typeface="Arial"/>
              </a:defRPr>
            </a:pPr>
            <a:r>
              <a:rPr sz="1950" b="0">
                <a:solidFill>
                  <a:srgbClr val="5B7066"/>
                </a:solidFill>
                <a:latin typeface="Arial"/>
                <a:ea typeface="Arial"/>
                <a:cs typeface="Arial"/>
              </a:rPr>
              <a:t>100% precision / 42.9% recall</a:t>
            </a:r>
          </a:p>
          <a:p xmlns:a="http://schemas.openxmlformats.org/drawingml/2006/main">
            <a:pPr>
              <a:defRPr sz="1950" b="0">
                <a:solidFill>
                  <a:srgbClr val="5B7066"/>
                </a:solidFill>
                <a:latin typeface="Arial"/>
                <a:ea typeface="Arial"/>
                <a:cs typeface="Arial"/>
              </a:defRPr>
            </a:pPr>
            <a:r>
              <a:rPr sz="1950" b="0">
                <a:solidFill>
                  <a:srgbClr val="5B7066"/>
                </a:solidFill>
                <a:latin typeface="Arial"/>
                <a:ea typeface="Arial"/>
                <a:cs typeface="Arial"/>
              </a:rPr>
              <a:t>3 matched issues; AI matched 7.</a:t>
            </a:r>
          </a:p>
        </p:txBody>
      </p:sp>
      <p:sp>
        <p:nvSpPr>
          <p:cNvPr id="8" name="Failures retained">
            <a:extLst xmlns:a="http://schemas.openxmlformats.org/drawingml/2006/main">
              <a:ext uri="{FF2B5EF4-FFF2-40B4-BE49-F238E27FC236}">
                <a16:creationId xmlns:a16="http://schemas.microsoft.com/office/drawing/2014/main" id="{FED264BB-B9E3-4EE1-9B19-5DB8F6B3F889}"/>
              </a:ext>
            </a:extLst>
          </p:cNvPr>
          <p:cNvSpPr>
            <a:spLocks xmlns:a="http://schemas.openxmlformats.org/drawingml/2006/main" noGrp="1"/>
          </p:cNvSpPr>
          <p:nvPr/>
        </p:nvSpPr>
        <p:spPr>
          <a:xfrm xmlns:a="http://schemas.openxmlformats.org/drawingml/2006/main">
            <a:off x="6419850" y="4086225"/>
            <a:ext cx="5162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23E32"/>
                </a:solidFill>
                <a:latin typeface="Arial"/>
                <a:ea typeface="Arial"/>
                <a:cs typeface="Arial"/>
              </a:defRPr>
            </a:pPr>
            <a:r>
              <a:rPr sz="2100" b="1">
                <a:solidFill>
                  <a:srgbClr val="123E32"/>
                </a:solidFill>
                <a:latin typeface="Arial"/>
                <a:ea typeface="Arial"/>
                <a:cs typeface="Arial"/>
              </a:rPr>
              <a:t>Failures retained</a:t>
            </a:r>
          </a:p>
        </p:txBody>
      </p:sp>
      <p:sp>
        <p:nvSpPr>
          <p:cNvPr id="9" name="One extra issue; 3/8 rubric flags.&#10;Human semantic ">
            <a:extLst xmlns:a="http://schemas.openxmlformats.org/drawingml/2006/main">
              <a:ext uri="{FF2B5EF4-FFF2-40B4-BE49-F238E27FC236}">
                <a16:creationId xmlns:a16="http://schemas.microsoft.com/office/drawing/2014/main" id="{7ACAB9D9-0BBD-403E-823C-30C276B48B24}"/>
              </a:ext>
            </a:extLst>
          </p:cNvPr>
          <p:cNvSpPr>
            <a:spLocks xmlns:a="http://schemas.openxmlformats.org/drawingml/2006/main" noGrp="1"/>
          </p:cNvSpPr>
          <p:nvPr/>
        </p:nvSpPr>
        <p:spPr>
          <a:xfrm xmlns:a="http://schemas.openxmlformats.org/drawingml/2006/main">
            <a:off x="6419850" y="4591050"/>
            <a:ext cx="51625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B7066"/>
                </a:solidFill>
                <a:latin typeface="Arial"/>
                <a:ea typeface="Arial"/>
                <a:cs typeface="Arial"/>
              </a:defRPr>
            </a:pPr>
            <a:r>
              <a:rPr sz="1950" b="0">
                <a:solidFill>
                  <a:srgbClr val="5B7066"/>
                </a:solidFill>
                <a:latin typeface="Arial"/>
                <a:ea typeface="Arial"/>
                <a:cs typeface="Arial"/>
              </a:rPr>
              <a:t>One extra issue; 3/8 rubric flags.</a:t>
            </a:r>
          </a:p>
          <a:p xmlns:a="http://schemas.openxmlformats.org/drawingml/2006/main">
            <a:pPr>
              <a:defRPr sz="1950" b="0">
                <a:solidFill>
                  <a:srgbClr val="5B7066"/>
                </a:solidFill>
                <a:latin typeface="Arial"/>
                <a:ea typeface="Arial"/>
                <a:cs typeface="Arial"/>
              </a:defRPr>
            </a:pPr>
            <a:r>
              <a:rPr sz="1950" b="0">
                <a:solidFill>
                  <a:srgbClr val="5B7066"/>
                </a:solidFill>
                <a:latin typeface="Arial"/>
                <a:ea typeface="Arial"/>
                <a:cs typeface="Arial"/>
              </a:rPr>
              <a:t>Human semantic review pending.</a:t>
            </a:r>
          </a:p>
        </p:txBody>
      </p:sp>
      <p:sp>
        <p:nvSpPr>
          <p:cNvPr id="10" name="9 October 2026. Same-author synthetic labels. No m">
            <a:extLst xmlns:a="http://schemas.openxmlformats.org/drawingml/2006/main">
              <a:ext uri="{FF2B5EF4-FFF2-40B4-BE49-F238E27FC236}">
                <a16:creationId xmlns:a16="http://schemas.microsoft.com/office/drawing/2014/main" id="{9A09F382-4E67-455F-82E2-164602A0CE03}"/>
              </a:ext>
            </a:extLst>
          </p:cNvPr>
          <p:cNvSpPr>
            <a:spLocks xmlns:a="http://schemas.openxmlformats.org/drawingml/2006/main" noGrp="1"/>
          </p:cNvSpPr>
          <p:nvPr/>
        </p:nvSpPr>
        <p:spPr>
          <a:xfrm xmlns:a="http://schemas.openxmlformats.org/drawingml/2006/main">
            <a:off x="609600" y="62484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B7066"/>
                </a:solidFill>
                <a:latin typeface="Arial"/>
                <a:ea typeface="Arial"/>
                <a:cs typeface="Arial"/>
              </a:defRPr>
            </a:pPr>
            <a:r>
              <a:rPr sz="1275" b="0">
                <a:solidFill>
                  <a:srgbClr val="5B7066"/>
                </a:solidFill>
                <a:latin typeface="Arial"/>
                <a:ea typeface="Arial"/>
                <a:cs typeface="Arial"/>
              </a:rPr>
              <a:t>9 October 2026. Same-author synthetic labels. No measured reviewer time savings.</a:t>
            </a:r>
          </a:p>
        </p:txBody>
      </p:sp>
    </p:spTree>
    <p:extLst>
      <p:ext uri="{BB962C8B-B14F-4D97-AF65-F5344CB8AC3E}">
        <p14:creationId xmlns:p14="http://schemas.microsoft.com/office/powerpoint/2010/main" val="1140621145"/>
      </p:ext>
    </p:extLst>
  </p:cSld>
</p:sld>
</file>

<file path=ppt/slides/slide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3" name="FEASIBILITY, DATA REQUIREMENTS, RUNNING COSTS AND ">
            <a:extLst xmlns:a="http://schemas.openxmlformats.org/drawingml/2006/main">
              <a:ext uri="{FF2B5EF4-FFF2-40B4-BE49-F238E27FC236}">
                <a16:creationId xmlns:a16="http://schemas.microsoft.com/office/drawing/2014/main" id="{A1FB9487-2221-4142-A847-7E020643C803}"/>
              </a:ext>
            </a:extLst>
          </p:cNvPr>
          <p:cNvSpPr>
            <a:spLocks xmlns:a="http://schemas.openxmlformats.org/drawingml/2006/main" noGrp="1"/>
          </p:cNvSpPr>
          <p:nvPr/>
        </p:nvSpPr>
        <p:spPr>
          <a:xfrm xmlns:a="http://schemas.openxmlformats.org/drawingml/2006/main">
            <a:off x="609600" y="40957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267554"/>
                </a:solidFill>
                <a:latin typeface="Arial"/>
                <a:ea typeface="Arial"/>
                <a:cs typeface="Arial"/>
              </a:defRPr>
            </a:pPr>
            <a:r>
              <a:rPr sz="1125" b="1">
                <a:solidFill>
                  <a:srgbClr val="267554"/>
                </a:solidFill>
                <a:latin typeface="Arial"/>
                <a:ea typeface="Arial"/>
                <a:cs typeface="Arial"/>
              </a:rPr>
              <a:t>FEASIBILITY, DATA REQUIREMENTS, RUNNING COSTS AND NEXT STEPS: 15 POINTS</a:t>
            </a:r>
          </a:p>
        </p:txBody>
      </p:sp>
      <p:sp>
        <p:nvSpPr>
          <p:cNvPr id="2" name="A pilot with measurable&#10;quality and operating cost">
            <a:extLst xmlns:a="http://schemas.openxmlformats.org/drawingml/2006/main">
              <a:ext uri="{FF2B5EF4-FFF2-40B4-BE49-F238E27FC236}">
                <a16:creationId xmlns:a16="http://schemas.microsoft.com/office/drawing/2014/main" id="{7D1B8A20-BB85-4FA4-B126-ACDE744E7C98}"/>
              </a:ext>
            </a:extLst>
          </p:cNvPr>
          <p:cNvSpPr>
            <a:spLocks xmlns:a="http://schemas.openxmlformats.org/drawingml/2006/main" noGrp="1"/>
          </p:cNvSpPr>
          <p:nvPr/>
        </p:nvSpPr>
        <p:spPr>
          <a:xfrm xmlns:a="http://schemas.openxmlformats.org/drawingml/2006/main">
            <a:off x="609600" y="10287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75" b="1">
                <a:solidFill>
                  <a:srgbClr val="123E32"/>
                </a:solidFill>
                <a:latin typeface="Arial"/>
                <a:ea typeface="Arial"/>
                <a:cs typeface="Arial"/>
              </a:defRPr>
            </a:pPr>
            <a:r>
              <a:rPr sz="3975" b="1">
                <a:solidFill>
                  <a:srgbClr val="123E32"/>
                </a:solidFill>
                <a:latin typeface="Arial"/>
                <a:ea typeface="Arial"/>
                <a:cs typeface="Arial"/>
              </a:rPr>
              <a:t>A pilot with measurable</a:t>
            </a:r>
          </a:p>
          <a:p xmlns:a="http://schemas.openxmlformats.org/drawingml/2006/main">
            <a:pPr>
              <a:defRPr sz="3975" b="1">
                <a:solidFill>
                  <a:srgbClr val="123E32"/>
                </a:solidFill>
                <a:latin typeface="Arial"/>
                <a:ea typeface="Arial"/>
                <a:cs typeface="Arial"/>
              </a:defRPr>
            </a:pPr>
            <a:r>
              <a:rPr sz="3975" b="1">
                <a:solidFill>
                  <a:srgbClr val="123E32"/>
                </a:solidFill>
                <a:latin typeface="Arial"/>
                <a:ea typeface="Arial"/>
                <a:cs typeface="Arial"/>
              </a:rPr>
              <a:t>quality and operating cost</a:t>
            </a:r>
          </a:p>
        </p:txBody>
      </p:sp>
      <p:sp>
        <p:nvSpPr>
          <p:cNvPr id="3" name="05">
            <a:extLst xmlns:a="http://schemas.openxmlformats.org/drawingml/2006/main">
              <a:ext uri="{FF2B5EF4-FFF2-40B4-BE49-F238E27FC236}">
                <a16:creationId xmlns:a16="http://schemas.microsoft.com/office/drawing/2014/main" id="{A2F3BB7C-1C9C-43AC-AE8B-AFD1B431EE43}"/>
              </a:ext>
            </a:extLst>
          </p:cNvPr>
          <p:cNvSpPr>
            <a:spLocks xmlns:a="http://schemas.openxmlformats.org/drawingml/2006/main" noGrp="1"/>
          </p:cNvSpPr>
          <p:nvPr/>
        </p:nvSpPr>
        <p:spPr>
          <a:xfrm xmlns:a="http://schemas.openxmlformats.org/drawingml/2006/main">
            <a:off x="11125200" y="63817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B7066"/>
                </a:solidFill>
                <a:latin typeface="Arial"/>
                <a:ea typeface="Arial"/>
                <a:cs typeface="Arial"/>
              </a:defRPr>
            </a:pPr>
            <a:r>
              <a:rPr sz="1125" b="0">
                <a:solidFill>
                  <a:srgbClr val="5B7066"/>
                </a:solidFill>
                <a:latin typeface="Arial"/>
                <a:ea typeface="Arial"/>
                <a:cs typeface="Arial"/>
              </a:rPr>
              <a:t>05</a:t>
            </a:r>
          </a:p>
        </p:txBody>
      </p:sp>
      <p:sp>
        <p:nvSpPr>
          <p:cNvPr id="4" name="Data">
            <a:extLst xmlns:a="http://schemas.openxmlformats.org/drawingml/2006/main">
              <a:ext uri="{FF2B5EF4-FFF2-40B4-BE49-F238E27FC236}">
                <a16:creationId xmlns:a16="http://schemas.microsoft.com/office/drawing/2014/main" id="{3B8DB67A-BA72-4A56-8061-AEE6A1087567}"/>
              </a:ext>
            </a:extLst>
          </p:cNvPr>
          <p:cNvSpPr>
            <a:spLocks xmlns:a="http://schemas.openxmlformats.org/drawingml/2006/main" noGrp="1"/>
          </p:cNvSpPr>
          <p:nvPr/>
        </p:nvSpPr>
        <p:spPr>
          <a:xfrm xmlns:a="http://schemas.openxmlformats.org/drawingml/2006/main">
            <a:off x="609600" y="2505075"/>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267554"/>
                </a:solidFill>
                <a:latin typeface="Arial"/>
                <a:ea typeface="Arial"/>
                <a:cs typeface="Arial"/>
              </a:defRPr>
            </a:pPr>
            <a:r>
              <a:rPr sz="2325" b="1">
                <a:solidFill>
                  <a:srgbClr val="267554"/>
                </a:solidFill>
                <a:latin typeface="Arial"/>
                <a:ea typeface="Arial"/>
                <a:cs typeface="Arial"/>
              </a:rPr>
              <a:t>Data</a:t>
            </a:r>
          </a:p>
        </p:txBody>
      </p:sp>
      <p:sp>
        <p:nvSpPr>
          <p:cNvPr id="5" name="Permissioned recordings, stable IDs, independent l">
            <a:extLst xmlns:a="http://schemas.openxmlformats.org/drawingml/2006/main">
              <a:ext uri="{FF2B5EF4-FFF2-40B4-BE49-F238E27FC236}">
                <a16:creationId xmlns:a16="http://schemas.microsoft.com/office/drawing/2014/main" id="{0B10714B-77C3-4585-9A9F-A2D3F47F24A6}"/>
              </a:ext>
            </a:extLst>
          </p:cNvPr>
          <p:cNvSpPr>
            <a:spLocks xmlns:a="http://schemas.openxmlformats.org/drawingml/2006/main" noGrp="1"/>
          </p:cNvSpPr>
          <p:nvPr/>
        </p:nvSpPr>
        <p:spPr>
          <a:xfrm xmlns:a="http://schemas.openxmlformats.org/drawingml/2006/main">
            <a:off x="3381375" y="2505075"/>
            <a:ext cx="8172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23E32"/>
                </a:solidFill>
                <a:latin typeface="Arial"/>
                <a:ea typeface="Arial"/>
                <a:cs typeface="Arial"/>
              </a:defRPr>
            </a:pPr>
            <a:r>
              <a:rPr sz="2100" b="0">
                <a:solidFill>
                  <a:srgbClr val="123E32"/>
                </a:solidFill>
                <a:latin typeface="Arial"/>
                <a:ea typeface="Arial"/>
                <a:cs typeface="Arial"/>
              </a:rPr>
              <a:t>Permissioned recordings, stable IDs, independent labels</a:t>
            </a:r>
          </a:p>
        </p:txBody>
      </p:sp>
      <p:sp>
        <p:nvSpPr>
          <p:cNvPr id="6" name="Budget">
            <a:extLst xmlns:a="http://schemas.openxmlformats.org/drawingml/2006/main">
              <a:ext uri="{FF2B5EF4-FFF2-40B4-BE49-F238E27FC236}">
                <a16:creationId xmlns:a16="http://schemas.microsoft.com/office/drawing/2014/main" id="{7B7917A4-81E6-4A29-847F-C3B95ABC877C}"/>
              </a:ext>
            </a:extLst>
          </p:cNvPr>
          <p:cNvSpPr>
            <a:spLocks xmlns:a="http://schemas.openxmlformats.org/drawingml/2006/main" noGrp="1"/>
          </p:cNvSpPr>
          <p:nvPr/>
        </p:nvSpPr>
        <p:spPr>
          <a:xfrm xmlns:a="http://schemas.openxmlformats.org/drawingml/2006/main">
            <a:off x="609600" y="3343275"/>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267554"/>
                </a:solidFill>
                <a:latin typeface="Arial"/>
                <a:ea typeface="Arial"/>
                <a:cs typeface="Arial"/>
              </a:defRPr>
            </a:pPr>
            <a:r>
              <a:rPr sz="2325" b="1">
                <a:solidFill>
                  <a:srgbClr val="267554"/>
                </a:solidFill>
                <a:latin typeface="Arial"/>
                <a:ea typeface="Arial"/>
                <a:cs typeface="Arial"/>
              </a:rPr>
              <a:t>Budget</a:t>
            </a:r>
          </a:p>
        </p:txBody>
      </p:sp>
      <p:sp>
        <p:nvSpPr>
          <p:cNvPr id="7" name="$302.40/month: server and weekly backup">
            <a:extLst xmlns:a="http://schemas.openxmlformats.org/drawingml/2006/main">
              <a:ext uri="{FF2B5EF4-FFF2-40B4-BE49-F238E27FC236}">
                <a16:creationId xmlns:a16="http://schemas.microsoft.com/office/drawing/2014/main" id="{C077CABB-6F28-433B-83F8-5E66B0C7672F}"/>
              </a:ext>
            </a:extLst>
          </p:cNvPr>
          <p:cNvSpPr>
            <a:spLocks xmlns:a="http://schemas.openxmlformats.org/drawingml/2006/main" noGrp="1"/>
          </p:cNvSpPr>
          <p:nvPr/>
        </p:nvSpPr>
        <p:spPr>
          <a:xfrm xmlns:a="http://schemas.openxmlformats.org/drawingml/2006/main">
            <a:off x="3381375" y="3343275"/>
            <a:ext cx="8172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23E32"/>
                </a:solidFill>
                <a:latin typeface="Arial"/>
                <a:ea typeface="Arial"/>
                <a:cs typeface="Arial"/>
              </a:defRPr>
            </a:pPr>
            <a:r>
              <a:rPr sz="2100" b="0">
                <a:solidFill>
                  <a:srgbClr val="123E32"/>
                </a:solidFill>
                <a:latin typeface="Arial"/>
                <a:ea typeface="Arial"/>
                <a:cs typeface="Arial"/>
              </a:rPr>
              <a:t>$302.40/month: server and weekly backup</a:t>
            </a:r>
          </a:p>
        </p:txBody>
      </p:sp>
      <p:sp>
        <p:nvSpPr>
          <p:cNvPr id="8" name="Readiness">
            <a:extLst xmlns:a="http://schemas.openxmlformats.org/drawingml/2006/main">
              <a:ext uri="{FF2B5EF4-FFF2-40B4-BE49-F238E27FC236}">
                <a16:creationId xmlns:a16="http://schemas.microsoft.com/office/drawing/2014/main" id="{E974FEBF-97F6-4F8E-835F-BED229FCADBA}"/>
              </a:ext>
            </a:extLst>
          </p:cNvPr>
          <p:cNvSpPr>
            <a:spLocks xmlns:a="http://schemas.openxmlformats.org/drawingml/2006/main" noGrp="1"/>
          </p:cNvSpPr>
          <p:nvPr/>
        </p:nvSpPr>
        <p:spPr>
          <a:xfrm xmlns:a="http://schemas.openxmlformats.org/drawingml/2006/main">
            <a:off x="609600" y="4181475"/>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267554"/>
                </a:solidFill>
                <a:latin typeface="Arial"/>
                <a:ea typeface="Arial"/>
                <a:cs typeface="Arial"/>
              </a:defRPr>
            </a:pPr>
            <a:r>
              <a:rPr sz="2325" b="1">
                <a:solidFill>
                  <a:srgbClr val="267554"/>
                </a:solidFill>
                <a:latin typeface="Arial"/>
                <a:ea typeface="Arial"/>
                <a:cs typeface="Arial"/>
              </a:rPr>
              <a:t>Readiness</a:t>
            </a:r>
          </a:p>
        </p:txBody>
      </p:sp>
      <p:sp>
        <p:nvSpPr>
          <p:cNvPr id="9" name="Selected host still needs workload measurement">
            <a:extLst xmlns:a="http://schemas.openxmlformats.org/drawingml/2006/main">
              <a:ext uri="{FF2B5EF4-FFF2-40B4-BE49-F238E27FC236}">
                <a16:creationId xmlns:a16="http://schemas.microsoft.com/office/drawing/2014/main" id="{74933563-4243-48A2-AF46-C11D5C5AB7A8}"/>
              </a:ext>
            </a:extLst>
          </p:cNvPr>
          <p:cNvSpPr>
            <a:spLocks xmlns:a="http://schemas.openxmlformats.org/drawingml/2006/main" noGrp="1"/>
          </p:cNvSpPr>
          <p:nvPr/>
        </p:nvSpPr>
        <p:spPr>
          <a:xfrm xmlns:a="http://schemas.openxmlformats.org/drawingml/2006/main">
            <a:off x="3381375" y="4181475"/>
            <a:ext cx="8172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23E32"/>
                </a:solidFill>
                <a:latin typeface="Arial"/>
                <a:ea typeface="Arial"/>
                <a:cs typeface="Arial"/>
              </a:defRPr>
            </a:pPr>
            <a:r>
              <a:rPr sz="2100" b="0">
                <a:solidFill>
                  <a:srgbClr val="123E32"/>
                </a:solidFill>
                <a:latin typeface="Arial"/>
                <a:ea typeface="Arial"/>
                <a:cs typeface="Arial"/>
              </a:rPr>
              <a:t>Selected host still needs workload measurement</a:t>
            </a:r>
          </a:p>
        </p:txBody>
      </p:sp>
      <p:sp>
        <p:nvSpPr>
          <p:cNvPr id="10" name="Outcome">
            <a:extLst xmlns:a="http://schemas.openxmlformats.org/drawingml/2006/main">
              <a:ext uri="{FF2B5EF4-FFF2-40B4-BE49-F238E27FC236}">
                <a16:creationId xmlns:a16="http://schemas.microsoft.com/office/drawing/2014/main" id="{F0BE7A3E-1D37-49BD-95EC-52AD656BD8EE}"/>
              </a:ext>
            </a:extLst>
          </p:cNvPr>
          <p:cNvSpPr>
            <a:spLocks xmlns:a="http://schemas.openxmlformats.org/drawingml/2006/main" noGrp="1"/>
          </p:cNvSpPr>
          <p:nvPr/>
        </p:nvSpPr>
        <p:spPr>
          <a:xfrm xmlns:a="http://schemas.openxmlformats.org/drawingml/2006/main">
            <a:off x="609600" y="5019675"/>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267554"/>
                </a:solidFill>
                <a:latin typeface="Arial"/>
                <a:ea typeface="Arial"/>
                <a:cs typeface="Arial"/>
              </a:defRPr>
            </a:pPr>
            <a:r>
              <a:rPr sz="2325" b="1">
                <a:solidFill>
                  <a:srgbClr val="267554"/>
                </a:solidFill>
                <a:latin typeface="Arial"/>
                <a:ea typeface="Arial"/>
                <a:cs typeface="Arial"/>
              </a:rPr>
              <a:t>Outcome</a:t>
            </a:r>
          </a:p>
        </p:txBody>
      </p:sp>
      <p:sp>
        <p:nvSpPr>
          <p:cNvPr id="11" name="Seven-day call-share comparison, observational">
            <a:extLst xmlns:a="http://schemas.openxmlformats.org/drawingml/2006/main">
              <a:ext uri="{FF2B5EF4-FFF2-40B4-BE49-F238E27FC236}">
                <a16:creationId xmlns:a16="http://schemas.microsoft.com/office/drawing/2014/main" id="{56E97906-4703-4605-A6CB-0C5CE6A98FAC}"/>
              </a:ext>
            </a:extLst>
          </p:cNvPr>
          <p:cNvSpPr>
            <a:spLocks xmlns:a="http://schemas.openxmlformats.org/drawingml/2006/main" noGrp="1"/>
          </p:cNvSpPr>
          <p:nvPr/>
        </p:nvSpPr>
        <p:spPr>
          <a:xfrm xmlns:a="http://schemas.openxmlformats.org/drawingml/2006/main">
            <a:off x="3381375" y="5019675"/>
            <a:ext cx="8172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23E32"/>
                </a:solidFill>
                <a:latin typeface="Arial"/>
                <a:ea typeface="Arial"/>
                <a:cs typeface="Arial"/>
              </a:defRPr>
            </a:pPr>
            <a:r>
              <a:rPr sz="2100" b="0">
                <a:solidFill>
                  <a:srgbClr val="123E32"/>
                </a:solidFill>
                <a:latin typeface="Arial"/>
                <a:ea typeface="Arial"/>
                <a:cs typeface="Arial"/>
              </a:rPr>
              <a:t>Seven-day call-share comparison, observational</a:t>
            </a:r>
          </a:p>
        </p:txBody>
      </p:sp>
      <p:sp>
        <p:nvSpPr>
          <p:cNvPr id="12" name="Published budget excludes tax, labor and extras. M">
            <a:extLst xmlns:a="http://schemas.openxmlformats.org/drawingml/2006/main">
              <a:ext uri="{FF2B5EF4-FFF2-40B4-BE49-F238E27FC236}">
                <a16:creationId xmlns:a16="http://schemas.microsoft.com/office/drawing/2014/main" id="{B79DCCC7-24F6-4988-8B29-434906917751}"/>
              </a:ext>
            </a:extLst>
          </p:cNvPr>
          <p:cNvSpPr>
            <a:spLocks xmlns:a="http://schemas.openxmlformats.org/drawingml/2006/main" noGrp="1"/>
          </p:cNvSpPr>
          <p:nvPr/>
        </p:nvSpPr>
        <p:spPr>
          <a:xfrm xmlns:a="http://schemas.openxmlformats.org/drawingml/2006/main">
            <a:off x="609600" y="62484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B7066"/>
                </a:solidFill>
                <a:latin typeface="Arial"/>
                <a:ea typeface="Arial"/>
                <a:cs typeface="Arial"/>
              </a:defRPr>
            </a:pPr>
            <a:r>
              <a:rPr sz="1275" b="0">
                <a:solidFill>
                  <a:srgbClr val="5B7066"/>
                </a:solidFill>
                <a:latin typeface="Arial"/>
                <a:ea typeface="Arial"/>
                <a:cs typeface="Arial"/>
              </a:rPr>
              <a:t>Published budget excludes tax, labor and extras. Measured unit cost remains pending.</a:t>
            </a:r>
          </a:p>
        </p:txBody>
      </p:sp>
    </p:spTree>
    <p:extLst>
      <p:ext uri="{BB962C8B-B14F-4D97-AF65-F5344CB8AC3E}">
        <p14:creationId xmlns:p14="http://schemas.microsoft.com/office/powerpoint/2010/main" val="1404044463"/>
      </p:ext>
    </p:extLst>
  </p:cSld>
</p:sld>
</file>

<file path=ppt/slides/slide6.xml><?xml version="1.0" encoding="utf-8"?>
<p:sld xmlns:p="http://schemas.openxmlformats.org/presentationml/2006/main">
  <p:cSld>
    <p:bg>
      <p:bgPr>
        <a:solidFill xmlns:a="http://schemas.openxmlformats.org/drawingml/2006/main">
          <a:srgbClr val="0B2922"/>
        </a:solidFill>
      </p:bgPr>
    </p:bg>
    <p:spTree>
      <p:nvGrpSpPr>
        <p:cNvPr id="1" name=""/>
        <p:cNvGrpSpPr/>
        <p:nvPr/>
      </p:nvGrpSpPr>
      <p:grpSpPr>
        <a:xfrm xmlns:a="http://schemas.openxmlformats.org/drawingml/2006/main"/>
      </p:grpSpPr>
      <p:sp>
        <p:nvSpPr>
          <p:cNvPr id="10" name="ORIGINALITY: 10 POINTS">
            <a:extLst xmlns:a="http://schemas.openxmlformats.org/drawingml/2006/main">
              <a:ext uri="{FF2B5EF4-FFF2-40B4-BE49-F238E27FC236}">
                <a16:creationId xmlns:a16="http://schemas.microsoft.com/office/drawing/2014/main" id="{1BAFC691-8026-4023-87BA-848E1CA98BA6}"/>
              </a:ext>
            </a:extLst>
          </p:cNvPr>
          <p:cNvSpPr>
            <a:spLocks xmlns:a="http://schemas.openxmlformats.org/drawingml/2006/main" noGrp="1"/>
          </p:cNvSpPr>
          <p:nvPr/>
        </p:nvSpPr>
        <p:spPr>
          <a:xfrm xmlns:a="http://schemas.openxmlformats.org/drawingml/2006/main">
            <a:off x="609600" y="40957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BCE0B8"/>
                </a:solidFill>
                <a:latin typeface="Arial"/>
                <a:ea typeface="Arial"/>
                <a:cs typeface="Arial"/>
              </a:defRPr>
            </a:pPr>
            <a:r>
              <a:rPr sz="1125" b="1">
                <a:solidFill>
                  <a:srgbClr val="BCE0B8"/>
                </a:solidFill>
                <a:latin typeface="Arial"/>
                <a:ea typeface="Arial"/>
                <a:cs typeface="Arial"/>
              </a:rPr>
              <a:t>ORIGINALITY: 10 POINTS</a:t>
            </a:r>
          </a:p>
        </p:txBody>
      </p:sp>
      <p:sp>
        <p:nvSpPr>
          <p:cNvPr id="2" name="A focused proposition&#10;for a specific support team">
            <a:extLst xmlns:a="http://schemas.openxmlformats.org/drawingml/2006/main">
              <a:ext uri="{FF2B5EF4-FFF2-40B4-BE49-F238E27FC236}">
                <a16:creationId xmlns:a16="http://schemas.microsoft.com/office/drawing/2014/main" id="{A0411A76-E2BE-4DC8-8C4A-8F20F02347D2}"/>
              </a:ext>
            </a:extLst>
          </p:cNvPr>
          <p:cNvSpPr>
            <a:spLocks xmlns:a="http://schemas.openxmlformats.org/drawingml/2006/main" noGrp="1"/>
          </p:cNvSpPr>
          <p:nvPr/>
        </p:nvSpPr>
        <p:spPr>
          <a:xfrm xmlns:a="http://schemas.openxmlformats.org/drawingml/2006/main">
            <a:off x="609600" y="102870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75" b="1">
                <a:solidFill>
                  <a:srgbClr val="F7FAF3"/>
                </a:solidFill>
                <a:latin typeface="Arial"/>
                <a:ea typeface="Arial"/>
                <a:cs typeface="Arial"/>
              </a:defRPr>
            </a:pPr>
            <a:r>
              <a:rPr sz="3975" b="1">
                <a:solidFill>
                  <a:srgbClr val="F7FAF3"/>
                </a:solidFill>
                <a:latin typeface="Arial"/>
                <a:ea typeface="Arial"/>
                <a:cs typeface="Arial"/>
              </a:rPr>
              <a:t>A focused proposition</a:t>
            </a:r>
          </a:p>
          <a:p xmlns:a="http://schemas.openxmlformats.org/drawingml/2006/main">
            <a:pPr>
              <a:defRPr sz="3975" b="1">
                <a:solidFill>
                  <a:srgbClr val="F7FAF3"/>
                </a:solidFill>
                <a:latin typeface="Arial"/>
                <a:ea typeface="Arial"/>
                <a:cs typeface="Arial"/>
              </a:defRPr>
            </a:pPr>
            <a:r>
              <a:rPr sz="3975" b="1">
                <a:solidFill>
                  <a:srgbClr val="F7FAF3"/>
                </a:solidFill>
                <a:latin typeface="Arial"/>
                <a:ea typeface="Arial"/>
                <a:cs typeface="Arial"/>
              </a:rPr>
              <a:t>for a specific support team</a:t>
            </a:r>
          </a:p>
        </p:txBody>
      </p:sp>
      <p:sp>
        <p:nvSpPr>
          <p:cNvPr id="3" name="06">
            <a:extLst xmlns:a="http://schemas.openxmlformats.org/drawingml/2006/main">
              <a:ext uri="{FF2B5EF4-FFF2-40B4-BE49-F238E27FC236}">
                <a16:creationId xmlns:a16="http://schemas.microsoft.com/office/drawing/2014/main" id="{9209A839-3A40-4FF2-9C48-70913490C537}"/>
              </a:ext>
            </a:extLst>
          </p:cNvPr>
          <p:cNvSpPr>
            <a:spLocks xmlns:a="http://schemas.openxmlformats.org/drawingml/2006/main" noGrp="1"/>
          </p:cNvSpPr>
          <p:nvPr/>
        </p:nvSpPr>
        <p:spPr>
          <a:xfrm xmlns:a="http://schemas.openxmlformats.org/drawingml/2006/main">
            <a:off x="11125200" y="6381750"/>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BCE0B8"/>
                </a:solidFill>
                <a:latin typeface="Arial"/>
                <a:ea typeface="Arial"/>
                <a:cs typeface="Arial"/>
              </a:defRPr>
            </a:pPr>
            <a:r>
              <a:rPr sz="1125" b="0">
                <a:solidFill>
                  <a:srgbClr val="BCE0B8"/>
                </a:solidFill>
                <a:latin typeface="Arial"/>
                <a:ea typeface="Arial"/>
                <a:cs typeface="Arial"/>
              </a:rPr>
              <a:t>06</a:t>
            </a:r>
          </a:p>
        </p:txBody>
      </p:sp>
      <p:sp>
        <p:nvSpPr>
          <p:cNvPr id="4" name="ESTABLISHED CATEGORY">
            <a:extLst xmlns:a="http://schemas.openxmlformats.org/drawingml/2006/main">
              <a:ext uri="{FF2B5EF4-FFF2-40B4-BE49-F238E27FC236}">
                <a16:creationId xmlns:a16="http://schemas.microsoft.com/office/drawing/2014/main" id="{11784588-71D8-4DA9-92CD-C5F273F6502B}"/>
              </a:ext>
            </a:extLst>
          </p:cNvPr>
          <p:cNvSpPr>
            <a:spLocks xmlns:a="http://schemas.openxmlformats.org/drawingml/2006/main" noGrp="1"/>
          </p:cNvSpPr>
          <p:nvPr/>
        </p:nvSpPr>
        <p:spPr>
          <a:xfrm xmlns:a="http://schemas.openxmlformats.org/drawingml/2006/main">
            <a:off x="609600" y="2657475"/>
            <a:ext cx="10706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BCE0B8"/>
                </a:solidFill>
                <a:latin typeface="Arial"/>
                <a:ea typeface="Arial"/>
                <a:cs typeface="Arial"/>
              </a:defRPr>
            </a:pPr>
            <a:r>
              <a:rPr sz="1350" b="1">
                <a:solidFill>
                  <a:srgbClr val="BCE0B8"/>
                </a:solidFill>
                <a:latin typeface="Arial"/>
                <a:ea typeface="Arial"/>
                <a:cs typeface="Arial"/>
              </a:rPr>
              <a:t>ESTABLISHED CATEGORY</a:t>
            </a:r>
          </a:p>
        </p:txBody>
      </p:sp>
      <p:sp>
        <p:nvSpPr>
          <p:cNvPr id="5" name="Enterpret  /  Dovetail  /  Manual review">
            <a:extLst xmlns:a="http://schemas.openxmlformats.org/drawingml/2006/main">
              <a:ext uri="{FF2B5EF4-FFF2-40B4-BE49-F238E27FC236}">
                <a16:creationId xmlns:a16="http://schemas.microsoft.com/office/drawing/2014/main" id="{8A3A75A9-9291-4FF6-A202-5175D4DDD07F}"/>
              </a:ext>
            </a:extLst>
          </p:cNvPr>
          <p:cNvSpPr>
            <a:spLocks xmlns:a="http://schemas.openxmlformats.org/drawingml/2006/main" noGrp="1"/>
          </p:cNvSpPr>
          <p:nvPr/>
        </p:nvSpPr>
        <p:spPr>
          <a:xfrm xmlns:a="http://schemas.openxmlformats.org/drawingml/2006/main">
            <a:off x="609600" y="3095625"/>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F7FAF3"/>
                </a:solidFill>
                <a:latin typeface="Arial"/>
                <a:ea typeface="Arial"/>
                <a:cs typeface="Arial"/>
              </a:defRPr>
            </a:pPr>
            <a:r>
              <a:rPr sz="2625" b="1">
                <a:solidFill>
                  <a:srgbClr val="F7FAF3"/>
                </a:solidFill>
                <a:latin typeface="Arial"/>
                <a:ea typeface="Arial"/>
                <a:cs typeface="Arial"/>
              </a:rPr>
              <a:t>Enterpret  /  Dovetail  /  Manual review</a:t>
            </a:r>
          </a:p>
        </p:txBody>
      </p:sp>
      <p:sp>
        <p:nvSpPr>
          <p:cNvPr id="6" name="Our proposed fit">
            <a:extLst xmlns:a="http://schemas.openxmlformats.org/drawingml/2006/main">
              <a:ext uri="{FF2B5EF4-FFF2-40B4-BE49-F238E27FC236}">
                <a16:creationId xmlns:a16="http://schemas.microsoft.com/office/drawing/2014/main" id="{355076A4-7F5B-4ECA-9E5A-52CF6F45FCBB}"/>
              </a:ext>
            </a:extLst>
          </p:cNvPr>
          <p:cNvSpPr>
            <a:spLocks xmlns:a="http://schemas.openxmlformats.org/drawingml/2006/main" noGrp="1"/>
          </p:cNvSpPr>
          <p:nvPr/>
        </p:nvSpPr>
        <p:spPr>
          <a:xfrm xmlns:a="http://schemas.openxmlformats.org/drawingml/2006/main">
            <a:off x="609600" y="4010025"/>
            <a:ext cx="3495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BCE0B8"/>
                </a:solidFill>
                <a:latin typeface="Arial"/>
                <a:ea typeface="Arial"/>
                <a:cs typeface="Arial"/>
              </a:defRPr>
            </a:pPr>
            <a:r>
              <a:rPr sz="2250" b="1">
                <a:solidFill>
                  <a:srgbClr val="BCE0B8"/>
                </a:solidFill>
                <a:latin typeface="Arial"/>
                <a:ea typeface="Arial"/>
                <a:cs typeface="Arial"/>
              </a:rPr>
              <a:t>Our proposed fit</a:t>
            </a:r>
          </a:p>
        </p:txBody>
      </p:sp>
      <p:sp>
        <p:nvSpPr>
          <p:cNvPr id="7" name="Local processing, configurable analysis&#10;and a revi">
            <a:extLst xmlns:a="http://schemas.openxmlformats.org/drawingml/2006/main">
              <a:ext uri="{FF2B5EF4-FFF2-40B4-BE49-F238E27FC236}">
                <a16:creationId xmlns:a16="http://schemas.microsoft.com/office/drawing/2014/main" id="{B11B8E68-11D2-43F9-A73A-4F4CE015415A}"/>
              </a:ext>
            </a:extLst>
          </p:cNvPr>
          <p:cNvSpPr>
            <a:spLocks xmlns:a="http://schemas.openxmlformats.org/drawingml/2006/main" noGrp="1"/>
          </p:cNvSpPr>
          <p:nvPr/>
        </p:nvSpPr>
        <p:spPr>
          <a:xfrm xmlns:a="http://schemas.openxmlformats.org/drawingml/2006/main">
            <a:off x="4543425" y="3981450"/>
            <a:ext cx="703897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F7FAF3"/>
                </a:solidFill>
                <a:latin typeface="Arial"/>
                <a:ea typeface="Arial"/>
                <a:cs typeface="Arial"/>
              </a:defRPr>
            </a:pPr>
            <a:r>
              <a:rPr sz="2250" b="0">
                <a:solidFill>
                  <a:srgbClr val="F7FAF3"/>
                </a:solidFill>
                <a:latin typeface="Arial"/>
                <a:ea typeface="Arial"/>
                <a:cs typeface="Arial"/>
              </a:rPr>
              <a:t>Local processing, configurable analysis</a:t>
            </a:r>
          </a:p>
          <a:p xmlns:a="http://schemas.openxmlformats.org/drawingml/2006/main">
            <a:pPr>
              <a:defRPr sz="2250" b="0">
                <a:solidFill>
                  <a:srgbClr val="F7FAF3"/>
                </a:solidFill>
                <a:latin typeface="Arial"/>
                <a:ea typeface="Arial"/>
                <a:cs typeface="Arial"/>
              </a:defRPr>
            </a:pPr>
            <a:r>
              <a:rPr sz="2250" b="0">
                <a:solidFill>
                  <a:srgbClr val="F7FAF3"/>
                </a:solidFill>
                <a:latin typeface="Arial"/>
                <a:ea typeface="Arial"/>
                <a:cs typeface="Arial"/>
              </a:rPr>
              <a:t>and a reviewed engineering investigation.</a:t>
            </a:r>
          </a:p>
        </p:txBody>
      </p:sp>
      <p:sp>
        <p:nvSpPr>
          <p:cNvPr id="8" name="Next: one support team to test usefulness, quality">
            <a:extLst xmlns:a="http://schemas.openxmlformats.org/drawingml/2006/main">
              <a:ext uri="{FF2B5EF4-FFF2-40B4-BE49-F238E27FC236}">
                <a16:creationId xmlns:a16="http://schemas.microsoft.com/office/drawing/2014/main" id="{DE9F73B4-3588-467A-89E8-AE7D6A20A0D9}"/>
              </a:ext>
            </a:extLst>
          </p:cNvPr>
          <p:cNvSpPr>
            <a:spLocks xmlns:a="http://schemas.openxmlformats.org/drawingml/2006/main" noGrp="1"/>
          </p:cNvSpPr>
          <p:nvPr/>
        </p:nvSpPr>
        <p:spPr>
          <a:xfrm xmlns:a="http://schemas.openxmlformats.org/drawingml/2006/main">
            <a:off x="609600" y="5419725"/>
            <a:ext cx="10887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F7FAF3"/>
                </a:solidFill>
                <a:latin typeface="Arial"/>
                <a:ea typeface="Arial"/>
                <a:cs typeface="Arial"/>
              </a:defRPr>
            </a:pPr>
            <a:r>
              <a:rPr sz="2400" b="1">
                <a:solidFill>
                  <a:srgbClr val="F7FAF3"/>
                </a:solidFill>
                <a:latin typeface="Arial"/>
                <a:ea typeface="Arial"/>
                <a:cs typeface="Arial"/>
              </a:rPr>
              <a:t>Next: one support team to test usefulness, quality and cost.</a:t>
            </a:r>
          </a:p>
        </p:txBody>
      </p:sp>
      <p:sp>
        <p:nvSpPr>
          <p:cNvPr id="9" name="Custom workflow, existing models. This positioning">
            <a:extLst xmlns:a="http://schemas.openxmlformats.org/drawingml/2006/main">
              <a:ext uri="{FF2B5EF4-FFF2-40B4-BE49-F238E27FC236}">
                <a16:creationId xmlns:a16="http://schemas.microsoft.com/office/drawing/2014/main" id="{D01C4953-27A3-424D-9C82-3A81D607AE9A}"/>
              </a:ext>
            </a:extLst>
          </p:cNvPr>
          <p:cNvSpPr>
            <a:spLocks xmlns:a="http://schemas.openxmlformats.org/drawingml/2006/main" noGrp="1"/>
          </p:cNvSpPr>
          <p:nvPr/>
        </p:nvSpPr>
        <p:spPr>
          <a:xfrm xmlns:a="http://schemas.openxmlformats.org/drawingml/2006/main">
            <a:off x="609600" y="62484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BCE0B8"/>
                </a:solidFill>
                <a:latin typeface="Arial"/>
                <a:ea typeface="Arial"/>
                <a:cs typeface="Arial"/>
              </a:defRPr>
            </a:pPr>
            <a:r>
              <a:rPr sz="1275" b="0">
                <a:solidFill>
                  <a:srgbClr val="BCE0B8"/>
                </a:solidFill>
                <a:latin typeface="Arial"/>
                <a:ea typeface="Arial"/>
                <a:cs typeface="Arial"/>
              </a:rPr>
              <a:t>Custom workflow, existing models. This positioning is a hypothesis, not a uniqueness claim.</a:t>
            </a:r>
          </a:p>
        </p:txBody>
      </p:sp>
    </p:spTree>
    <p:extLst>
      <p:ext uri="{BB962C8B-B14F-4D97-AF65-F5344CB8AC3E}">
        <p14:creationId xmlns:p14="http://schemas.microsoft.com/office/powerpoint/2010/main" val="1959001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2026-10-09T14:24:42.1030000Z</dcterms:created>
  <dcterms:modified xsi:type="dcterms:W3CDTF">2026-10-09T14:24:42.1030000Z</dcterms:modified>
</coreProperties>
</file>